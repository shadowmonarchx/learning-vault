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media/image2.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66" r:id="rId4"/>
    <p:sldId id="269" r:id="rId5"/>
    <p:sldId id="259" r:id="rId6"/>
    <p:sldId id="261" r:id="rId7"/>
    <p:sldId id="263" r:id="rId8"/>
    <p:sldId id="257" r:id="rId9"/>
    <p:sldId id="258" r:id="rId10"/>
    <p:sldId id="270" r:id="rId11"/>
  </p:sldIdLst>
  <p:sldSz cx="18288000" cy="10287000"/>
  <p:notesSz cx="6858000" cy="9144000"/>
  <p:embeddedFontLst>
    <p:embeddedFont>
      <p:font typeface="Calibri" panose="020F050202020403020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41" autoAdjust="0"/>
    <p:restoredTop sz="94622" autoAdjust="0"/>
  </p:normalViewPr>
  <p:slideViewPr>
    <p:cSldViewPr showGuides="1">
      <p:cViewPr varScale="1">
        <p:scale>
          <a:sx n="46" d="100"/>
          <a:sy n="46" d="100"/>
        </p:scale>
        <p:origin x="-762"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font" Target="fonts/font4.fntdata"/><Relationship Id="rId17" Type="http://schemas.openxmlformats.org/officeDocument/2006/relationships/font" Target="fonts/font3.fntdata"/><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4239083" cy="10287000"/>
            <a:chOff x="0" y="0"/>
            <a:chExt cx="5652111" cy="13716000"/>
          </a:xfrm>
        </p:grpSpPr>
        <p:grpSp>
          <p:nvGrpSpPr>
            <p:cNvPr id="3" name="Group 3"/>
            <p:cNvGrpSpPr/>
            <p:nvPr/>
          </p:nvGrpSpPr>
          <p:grpSpPr>
            <a:xfrm>
              <a:off x="2826056" y="0"/>
              <a:ext cx="2826056" cy="13716000"/>
              <a:chOff x="0" y="0"/>
              <a:chExt cx="558233" cy="2709333"/>
            </a:xfrm>
          </p:grpSpPr>
          <p:sp>
            <p:nvSpPr>
              <p:cNvPr id="4" name="Freeform 4"/>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5" name="TextBox 5"/>
              <p:cNvSpPr txBox="1"/>
              <p:nvPr/>
            </p:nvSpPr>
            <p:spPr>
              <a:xfrm>
                <a:off x="0" y="-47625"/>
                <a:ext cx="558233" cy="2756958"/>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a:off x="1413028" y="0"/>
              <a:ext cx="2826056" cy="13716000"/>
              <a:chOff x="0" y="0"/>
              <a:chExt cx="558233" cy="2709333"/>
            </a:xfrm>
          </p:grpSpPr>
          <p:sp>
            <p:nvSpPr>
              <p:cNvPr id="7" name="Freeform 7"/>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8" name="TextBox 8"/>
              <p:cNvSpPr txBox="1"/>
              <p:nvPr/>
            </p:nvSpPr>
            <p:spPr>
              <a:xfrm>
                <a:off x="0" y="-47625"/>
                <a:ext cx="558233" cy="2756958"/>
              </a:xfrm>
              <a:prstGeom prst="rect">
                <a:avLst/>
              </a:prstGeom>
            </p:spPr>
            <p:txBody>
              <a:bodyPr lIns="50800" tIns="50800" rIns="50800" bIns="50800" rtlCol="0" anchor="ctr"/>
              <a:lstStyle/>
              <a:p>
                <a:pPr algn="ctr">
                  <a:lnSpc>
                    <a:spcPts val="2660"/>
                  </a:lnSpc>
                </a:pPr>
              </a:p>
            </p:txBody>
          </p:sp>
        </p:grpSp>
        <p:grpSp>
          <p:nvGrpSpPr>
            <p:cNvPr id="9" name="Group 9"/>
            <p:cNvGrpSpPr/>
            <p:nvPr/>
          </p:nvGrpSpPr>
          <p:grpSpPr>
            <a:xfrm>
              <a:off x="0" y="0"/>
              <a:ext cx="2826056" cy="13716000"/>
              <a:chOff x="0" y="0"/>
              <a:chExt cx="558233" cy="2709333"/>
            </a:xfrm>
          </p:grpSpPr>
          <p:sp>
            <p:nvSpPr>
              <p:cNvPr id="10" name="Freeform 10"/>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1" name="TextBox 11"/>
              <p:cNvSpPr txBox="1"/>
              <p:nvPr/>
            </p:nvSpPr>
            <p:spPr>
              <a:xfrm>
                <a:off x="0" y="-47625"/>
                <a:ext cx="558233" cy="2756958"/>
              </a:xfrm>
              <a:prstGeom prst="rect">
                <a:avLst/>
              </a:prstGeom>
            </p:spPr>
            <p:txBody>
              <a:bodyPr lIns="50800" tIns="50800" rIns="50800" bIns="50800" rtlCol="0" anchor="ctr"/>
              <a:lstStyle/>
              <a:p>
                <a:pPr algn="ctr">
                  <a:lnSpc>
                    <a:spcPts val="2660"/>
                  </a:lnSpc>
                </a:pPr>
              </a:p>
            </p:txBody>
          </p:sp>
        </p:grpSp>
      </p:grpSp>
      <p:sp>
        <p:nvSpPr>
          <p:cNvPr id="12" name="TextBox 12"/>
          <p:cNvSpPr txBox="1"/>
          <p:nvPr/>
        </p:nvSpPr>
        <p:spPr>
          <a:xfrm>
            <a:off x="5715000" y="2548399"/>
            <a:ext cx="9684108" cy="3885936"/>
          </a:xfrm>
          <a:prstGeom prst="rect">
            <a:avLst/>
          </a:prstGeom>
        </p:spPr>
        <p:txBody>
          <a:bodyPr wrap="square" lIns="0" tIns="0" rIns="0" bIns="0" rtlCol="0" anchor="t">
            <a:spAutoFit/>
          </a:bodyPr>
          <a:lstStyle/>
          <a:p>
            <a:pPr algn="ctr">
              <a:lnSpc>
                <a:spcPts val="14550"/>
              </a:lnSpc>
            </a:pPr>
            <a:r>
              <a:rPr lang="en-US" sz="18000" b="1" i="1" dirty="0" smtClean="0">
                <a:solidFill>
                  <a:schemeClr val="accent2"/>
                </a:solidFill>
                <a:effectLst>
                  <a:outerShdw blurRad="38100" dist="38100" dir="2700000" algn="tl">
                    <a:srgbClr val="000000">
                      <a:alpha val="43137"/>
                    </a:srgbClr>
                  </a:outerShdw>
                </a:effectLst>
                <a:latin typeface="+mj-lt"/>
              </a:rPr>
              <a:t>Sorted Spectrum</a:t>
            </a:r>
            <a:endParaRPr lang="en-US" sz="18000" b="1" i="1" dirty="0">
              <a:solidFill>
                <a:schemeClr val="accent2"/>
              </a:solidFill>
              <a:effectLst>
                <a:outerShdw blurRad="38100" dist="38100" dir="2700000" algn="tl">
                  <a:srgbClr val="000000">
                    <a:alpha val="43137"/>
                  </a:srgbClr>
                </a:outerShdw>
              </a:effectLst>
              <a:latin typeface="+mj-lt"/>
            </a:endParaRPr>
          </a:p>
        </p:txBody>
      </p:sp>
      <p:sp>
        <p:nvSpPr>
          <p:cNvPr id="13" name="Freeform 13"/>
          <p:cNvSpPr/>
          <p:nvPr/>
        </p:nvSpPr>
        <p:spPr>
          <a:xfrm>
            <a:off x="12646898" y="-210192"/>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6" name="Freeform 16"/>
          <p:cNvSpPr/>
          <p:nvPr/>
        </p:nvSpPr>
        <p:spPr>
          <a:xfrm>
            <a:off x="11118095" y="925830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627362" y="0"/>
            <a:ext cx="937061" cy="10287000"/>
            <a:chOff x="0" y="0"/>
            <a:chExt cx="246798" cy="2709333"/>
          </a:xfrm>
        </p:grpSpPr>
        <p:sp>
          <p:nvSpPr>
            <p:cNvPr id="3" name="Freeform 3"/>
            <p:cNvSpPr/>
            <p:nvPr/>
          </p:nvSpPr>
          <p:spPr>
            <a:xfrm>
              <a:off x="0" y="0"/>
              <a:ext cx="246798" cy="2709333"/>
            </a:xfrm>
            <a:custGeom>
              <a:avLst/>
              <a:gdLst/>
              <a:ahLst/>
              <a:cxnLst/>
              <a:rect l="l" t="t" r="r" b="b"/>
              <a:pathLst>
                <a:path w="246798" h="2709333">
                  <a:moveTo>
                    <a:pt x="0" y="0"/>
                  </a:moveTo>
                  <a:lnTo>
                    <a:pt x="246798" y="0"/>
                  </a:lnTo>
                  <a:lnTo>
                    <a:pt x="246798" y="2709333"/>
                  </a:lnTo>
                  <a:lnTo>
                    <a:pt x="0" y="2709333"/>
                  </a:lnTo>
                  <a:close/>
                </a:path>
              </a:pathLst>
            </a:custGeom>
            <a:solidFill>
              <a:srgbClr val="F6F3EB"/>
            </a:solidFill>
          </p:spPr>
        </p:sp>
        <p:sp>
          <p:nvSpPr>
            <p:cNvPr id="4" name="TextBox 4"/>
            <p:cNvSpPr txBox="1"/>
            <p:nvPr/>
          </p:nvSpPr>
          <p:spPr>
            <a:xfrm>
              <a:off x="0" y="-38100"/>
              <a:ext cx="246798" cy="2747433"/>
            </a:xfrm>
            <a:prstGeom prst="rect">
              <a:avLst/>
            </a:prstGeom>
          </p:spPr>
          <p:txBody>
            <a:bodyPr lIns="50800" tIns="50800" rIns="50800" bIns="50800" rtlCol="0" anchor="ctr"/>
            <a:lstStyle/>
            <a:p>
              <a:pPr algn="ctr">
                <a:lnSpc>
                  <a:spcPts val="2660"/>
                </a:lnSpc>
              </a:pPr>
            </a:p>
          </p:txBody>
        </p:sp>
      </p:grpSp>
      <p:sp>
        <p:nvSpPr>
          <p:cNvPr id="32" name="TextBox 32"/>
          <p:cNvSpPr txBox="1"/>
          <p:nvPr/>
        </p:nvSpPr>
        <p:spPr>
          <a:xfrm>
            <a:off x="15915854" y="-98041"/>
            <a:ext cx="1449213" cy="1509824"/>
          </a:xfrm>
          <a:prstGeom prst="rect">
            <a:avLst/>
          </a:prstGeom>
        </p:spPr>
        <p:txBody>
          <a:bodyPr lIns="50800" tIns="50800" rIns="50800" bIns="50800" rtlCol="0" anchor="ctr"/>
          <a:lstStyle/>
          <a:p>
            <a:pPr algn="ctr">
              <a:lnSpc>
                <a:spcPts val="2660"/>
              </a:lnSpc>
            </a:pPr>
          </a:p>
        </p:txBody>
      </p:sp>
      <p:sp>
        <p:nvSpPr>
          <p:cNvPr id="35" name="Freeform 35"/>
          <p:cNvSpPr/>
          <p:nvPr/>
        </p:nvSpPr>
        <p:spPr>
          <a:xfrm>
            <a:off x="11804788" y="925830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6" name="Group 5"/>
          <p:cNvGrpSpPr/>
          <p:nvPr/>
        </p:nvGrpSpPr>
        <p:grpSpPr>
          <a:xfrm>
            <a:off x="-31071" y="-180827"/>
            <a:ext cx="18319074" cy="10467827"/>
            <a:chOff x="0" y="-241102"/>
            <a:chExt cx="5652112" cy="13957102"/>
          </a:xfrm>
        </p:grpSpPr>
        <p:grpSp>
          <p:nvGrpSpPr>
            <p:cNvPr id="37" name="Group 6"/>
            <p:cNvGrpSpPr/>
            <p:nvPr/>
          </p:nvGrpSpPr>
          <p:grpSpPr>
            <a:xfrm>
              <a:off x="1161601" y="-241102"/>
              <a:ext cx="4490511" cy="13957102"/>
              <a:chOff x="-328781" y="-47625"/>
              <a:chExt cx="887014" cy="2756958"/>
            </a:xfrm>
          </p:grpSpPr>
          <p:sp>
            <p:nvSpPr>
              <p:cNvPr id="44" name="Freeform 7"/>
              <p:cNvSpPr/>
              <p:nvPr/>
            </p:nvSpPr>
            <p:spPr>
              <a:xfrm>
                <a:off x="-328781" y="0"/>
                <a:ext cx="887014"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45" name="TextBox 8"/>
              <p:cNvSpPr txBox="1"/>
              <p:nvPr/>
            </p:nvSpPr>
            <p:spPr>
              <a:xfrm>
                <a:off x="0" y="-47625"/>
                <a:ext cx="558233" cy="2756958"/>
              </a:xfrm>
              <a:prstGeom prst="rect">
                <a:avLst/>
              </a:prstGeom>
            </p:spPr>
            <p:txBody>
              <a:bodyPr lIns="50800" tIns="50800" rIns="50800" bIns="50800" rtlCol="0" anchor="ctr"/>
              <a:lstStyle/>
              <a:p>
                <a:pPr algn="ctr">
                  <a:lnSpc>
                    <a:spcPts val="2660"/>
                  </a:lnSpc>
                </a:pPr>
              </a:p>
            </p:txBody>
          </p:sp>
        </p:grpSp>
        <p:grpSp>
          <p:nvGrpSpPr>
            <p:cNvPr id="38" name="Group 9"/>
            <p:cNvGrpSpPr/>
            <p:nvPr/>
          </p:nvGrpSpPr>
          <p:grpSpPr>
            <a:xfrm>
              <a:off x="573837" y="-241102"/>
              <a:ext cx="3665247" cy="13957102"/>
              <a:chOff x="-165766" y="-47625"/>
              <a:chExt cx="723999" cy="2756958"/>
            </a:xfrm>
          </p:grpSpPr>
          <p:sp>
            <p:nvSpPr>
              <p:cNvPr id="42" name="Freeform 10"/>
              <p:cNvSpPr/>
              <p:nvPr/>
            </p:nvSpPr>
            <p:spPr>
              <a:xfrm>
                <a:off x="-165766" y="0"/>
                <a:ext cx="116102"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43" name="TextBox 11"/>
              <p:cNvSpPr txBox="1"/>
              <p:nvPr/>
            </p:nvSpPr>
            <p:spPr>
              <a:xfrm>
                <a:off x="0" y="-47625"/>
                <a:ext cx="558233" cy="2756958"/>
              </a:xfrm>
              <a:prstGeom prst="rect">
                <a:avLst/>
              </a:prstGeom>
            </p:spPr>
            <p:txBody>
              <a:bodyPr lIns="50800" tIns="50800" rIns="50800" bIns="50800" rtlCol="0" anchor="ctr"/>
              <a:lstStyle/>
              <a:p>
                <a:pPr algn="ctr">
                  <a:lnSpc>
                    <a:spcPts val="2660"/>
                  </a:lnSpc>
                </a:pPr>
              </a:p>
            </p:txBody>
          </p:sp>
        </p:grpSp>
        <p:grpSp>
          <p:nvGrpSpPr>
            <p:cNvPr id="39" name="Group 12"/>
            <p:cNvGrpSpPr/>
            <p:nvPr/>
          </p:nvGrpSpPr>
          <p:grpSpPr>
            <a:xfrm>
              <a:off x="0" y="-241102"/>
              <a:ext cx="2826056" cy="13957102"/>
              <a:chOff x="0" y="-47625"/>
              <a:chExt cx="558233" cy="2756958"/>
            </a:xfrm>
          </p:grpSpPr>
          <p:sp>
            <p:nvSpPr>
              <p:cNvPr id="40" name="Freeform 13"/>
              <p:cNvSpPr/>
              <p:nvPr/>
            </p:nvSpPr>
            <p:spPr>
              <a:xfrm>
                <a:off x="0" y="0"/>
                <a:ext cx="113351"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41" name="TextBox 14"/>
              <p:cNvSpPr txBox="1"/>
              <p:nvPr/>
            </p:nvSpPr>
            <p:spPr>
              <a:xfrm>
                <a:off x="0" y="-47625"/>
                <a:ext cx="558233" cy="2756958"/>
              </a:xfrm>
              <a:prstGeom prst="rect">
                <a:avLst/>
              </a:prstGeom>
            </p:spPr>
            <p:txBody>
              <a:bodyPr lIns="50800" tIns="50800" rIns="50800" bIns="50800" rtlCol="0" anchor="ctr"/>
              <a:lstStyle/>
              <a:p>
                <a:pPr algn="ctr">
                  <a:lnSpc>
                    <a:spcPts val="2660"/>
                  </a:lnSpc>
                </a:pPr>
              </a:p>
            </p:txBody>
          </p:sp>
        </p:grpSp>
      </p:grpSp>
      <p:sp>
        <p:nvSpPr>
          <p:cNvPr id="48" name="TextBox 47"/>
          <p:cNvSpPr txBox="1"/>
          <p:nvPr/>
        </p:nvSpPr>
        <p:spPr>
          <a:xfrm>
            <a:off x="5029200" y="1411783"/>
            <a:ext cx="5067935" cy="2553335"/>
          </a:xfrm>
          <a:prstGeom prst="rect">
            <a:avLst/>
          </a:prstGeom>
          <a:noFill/>
        </p:spPr>
        <p:txBody>
          <a:bodyPr wrap="none" rtlCol="0">
            <a:spAutoFit/>
          </a:bodyPr>
          <a:lstStyle/>
          <a:p>
            <a:r>
              <a:rPr lang="en-US" sz="3200" b="1" dirty="0" smtClean="0"/>
              <a:t>SOLANKI ZUBER</a:t>
            </a:r>
            <a:endParaRPr lang="en-US" sz="3200" b="1" dirty="0" smtClean="0"/>
          </a:p>
          <a:p>
            <a:r>
              <a:rPr lang="en-US" sz="3200" dirty="0" smtClean="0"/>
              <a:t>Enroll  No. : 22002170110186</a:t>
            </a:r>
            <a:endParaRPr lang="en-US" sz="3200" dirty="0" smtClean="0"/>
          </a:p>
          <a:p>
            <a:r>
              <a:rPr lang="en-US" sz="3200" dirty="0" smtClean="0"/>
              <a:t>Roll no. : 194</a:t>
            </a:r>
            <a:endParaRPr lang="en-US" sz="3200" dirty="0" smtClean="0"/>
          </a:p>
          <a:p>
            <a:r>
              <a:rPr lang="en-US" sz="3200" dirty="0" smtClean="0"/>
              <a:t>Branch : CE</a:t>
            </a:r>
            <a:endParaRPr lang="en-US" sz="3200" dirty="0" smtClean="0"/>
          </a:p>
          <a:p>
            <a:r>
              <a:rPr lang="en-US" sz="3200" dirty="0" smtClean="0"/>
              <a:t>Batch: C5</a:t>
            </a:r>
            <a:endParaRPr lang="en-US" sz="3200" dirty="0"/>
          </a:p>
        </p:txBody>
      </p:sp>
      <p:sp>
        <p:nvSpPr>
          <p:cNvPr id="50" name="TextBox 49"/>
          <p:cNvSpPr txBox="1"/>
          <p:nvPr/>
        </p:nvSpPr>
        <p:spPr>
          <a:xfrm>
            <a:off x="12420600" y="1359413"/>
            <a:ext cx="5067935" cy="2553335"/>
          </a:xfrm>
          <a:prstGeom prst="rect">
            <a:avLst/>
          </a:prstGeom>
          <a:noFill/>
        </p:spPr>
        <p:txBody>
          <a:bodyPr wrap="none" rtlCol="0">
            <a:spAutoFit/>
          </a:bodyPr>
          <a:lstStyle/>
          <a:p>
            <a:pPr algn="l"/>
            <a:r>
              <a:rPr lang="en-US" altLang="en-US" sz="3200" b="1" dirty="0" smtClean="0"/>
              <a:t>SHEKHDA JENISH</a:t>
            </a:r>
            <a:endParaRPr lang="en-US" altLang="en-US" sz="3200" b="1" dirty="0" smtClean="0"/>
          </a:p>
          <a:p>
            <a:pPr algn="l"/>
            <a:r>
              <a:rPr lang="en-US" sz="3200" dirty="0" smtClean="0"/>
              <a:t>Enroll  No. : 22002170110177</a:t>
            </a:r>
            <a:endParaRPr lang="en-US" sz="3200" dirty="0" smtClean="0"/>
          </a:p>
          <a:p>
            <a:pPr algn="l"/>
            <a:r>
              <a:rPr lang="en-US" sz="3200" dirty="0" smtClean="0"/>
              <a:t>Roll no. : 191</a:t>
            </a:r>
            <a:endParaRPr lang="en-US" sz="3200" dirty="0" smtClean="0"/>
          </a:p>
          <a:p>
            <a:pPr algn="l"/>
            <a:r>
              <a:rPr lang="en-US" sz="3200" dirty="0" smtClean="0"/>
              <a:t>Branch : CE</a:t>
            </a:r>
            <a:endParaRPr lang="en-US" sz="3200" dirty="0" smtClean="0"/>
          </a:p>
          <a:p>
            <a:pPr algn="l"/>
            <a:r>
              <a:rPr lang="en-US" sz="3200" dirty="0"/>
              <a:t>Batch: C5</a:t>
            </a:r>
            <a:endParaRPr lang="en-US" sz="3200" dirty="0"/>
          </a:p>
        </p:txBody>
      </p:sp>
      <p:sp>
        <p:nvSpPr>
          <p:cNvPr id="51" name="TextBox 50"/>
          <p:cNvSpPr txBox="1"/>
          <p:nvPr/>
        </p:nvSpPr>
        <p:spPr>
          <a:xfrm>
            <a:off x="12420600" y="5094628"/>
            <a:ext cx="5067935" cy="2553335"/>
          </a:xfrm>
          <a:prstGeom prst="rect">
            <a:avLst/>
          </a:prstGeom>
          <a:noFill/>
        </p:spPr>
        <p:txBody>
          <a:bodyPr wrap="none" rtlCol="0">
            <a:spAutoFit/>
          </a:bodyPr>
          <a:lstStyle/>
          <a:p>
            <a:pPr algn="l"/>
            <a:r>
              <a:rPr lang="en-US" altLang="en-US" sz="3200" b="1" dirty="0" smtClean="0"/>
              <a:t>SINDHAVA MANAV</a:t>
            </a:r>
            <a:endParaRPr lang="en-US" altLang="en-US" sz="3200" b="1" dirty="0" smtClean="0"/>
          </a:p>
          <a:p>
            <a:pPr algn="l"/>
            <a:r>
              <a:rPr lang="en-US" sz="3200" dirty="0" smtClean="0"/>
              <a:t>Enroll  No. : 22002170110180</a:t>
            </a:r>
            <a:endParaRPr lang="en-US" sz="3200" dirty="0" smtClean="0"/>
          </a:p>
          <a:p>
            <a:pPr algn="l"/>
            <a:r>
              <a:rPr lang="en-US" sz="3200" dirty="0" smtClean="0"/>
              <a:t>Roll no. : 192</a:t>
            </a:r>
            <a:endParaRPr lang="en-US" sz="3200" dirty="0" smtClean="0"/>
          </a:p>
          <a:p>
            <a:pPr algn="l"/>
            <a:r>
              <a:rPr lang="en-US" sz="3200" dirty="0" smtClean="0"/>
              <a:t>Branch : CE</a:t>
            </a:r>
            <a:endParaRPr lang="en-US" sz="3200" dirty="0" smtClean="0"/>
          </a:p>
          <a:p>
            <a:pPr algn="l"/>
            <a:r>
              <a:rPr lang="en-US" sz="3200" dirty="0" smtClean="0"/>
              <a:t>Batch</a:t>
            </a:r>
            <a:r>
              <a:rPr lang="en-US" sz="3200" dirty="0"/>
              <a:t>: C5</a:t>
            </a:r>
            <a:endParaRPr lang="en-US" sz="3200" dirty="0"/>
          </a:p>
        </p:txBody>
      </p:sp>
      <p:sp>
        <p:nvSpPr>
          <p:cNvPr id="52" name="TextBox 51"/>
          <p:cNvSpPr txBox="1"/>
          <p:nvPr/>
        </p:nvSpPr>
        <p:spPr>
          <a:xfrm>
            <a:off x="5008418" y="5146177"/>
            <a:ext cx="5067935" cy="2553335"/>
          </a:xfrm>
          <a:prstGeom prst="rect">
            <a:avLst/>
          </a:prstGeom>
          <a:noFill/>
        </p:spPr>
        <p:txBody>
          <a:bodyPr wrap="none" rtlCol="0">
            <a:spAutoFit/>
          </a:bodyPr>
          <a:lstStyle/>
          <a:p>
            <a:pPr algn="l"/>
            <a:r>
              <a:rPr lang="en-US" altLang="en-US" sz="3200" b="1" dirty="0" smtClean="0"/>
              <a:t>SOJITRA SUJAL</a:t>
            </a:r>
            <a:endParaRPr lang="en-US" altLang="en-US" sz="3200" b="1" dirty="0" smtClean="0"/>
          </a:p>
          <a:p>
            <a:pPr algn="l"/>
            <a:r>
              <a:rPr lang="en-US" sz="3200" dirty="0" smtClean="0"/>
              <a:t>Enroll  No. : 22002170110182</a:t>
            </a:r>
            <a:endParaRPr lang="en-US" sz="3200" dirty="0" smtClean="0"/>
          </a:p>
          <a:p>
            <a:pPr algn="l"/>
            <a:r>
              <a:rPr lang="en-US" sz="3200" dirty="0" smtClean="0"/>
              <a:t>Roll no. : 193</a:t>
            </a:r>
            <a:endParaRPr lang="en-US" sz="3200" dirty="0" smtClean="0"/>
          </a:p>
          <a:p>
            <a:pPr algn="l"/>
            <a:r>
              <a:rPr lang="en-US" sz="3200" dirty="0" smtClean="0"/>
              <a:t>Branch : CE</a:t>
            </a:r>
            <a:endParaRPr lang="en-US" sz="3200" dirty="0" smtClean="0"/>
          </a:p>
          <a:p>
            <a:pPr algn="l"/>
            <a:r>
              <a:rPr lang="en-US" sz="3200" dirty="0"/>
              <a:t>Batch: C5</a:t>
            </a:r>
            <a:endParaRPr lang="en-US" sz="3200" dirty="0"/>
          </a:p>
        </p:txBody>
      </p:sp>
      <p:sp>
        <p:nvSpPr>
          <p:cNvPr id="6" name="Text Box 5"/>
          <p:cNvSpPr txBox="1"/>
          <p:nvPr/>
        </p:nvSpPr>
        <p:spPr>
          <a:xfrm>
            <a:off x="4657725" y="8030845"/>
            <a:ext cx="10801350" cy="1566545"/>
          </a:xfrm>
          <a:prstGeom prst="rect">
            <a:avLst/>
          </a:prstGeom>
          <a:noFill/>
        </p:spPr>
        <p:txBody>
          <a:bodyPr wrap="square" rtlCol="0">
            <a:noAutofit/>
          </a:bodyPr>
          <a:p>
            <a:endParaRPr lang="en-US" altLang="en-US">
              <a:ln>
                <a:solidFill>
                  <a:sysClr val="windowText" lastClr="000000"/>
                </a:solidFill>
              </a:l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533400" y="2019300"/>
            <a:ext cx="7530658" cy="7617470"/>
          </a:xfrm>
          <a:prstGeom prst="rect">
            <a:avLst/>
          </a:prstGeom>
        </p:spPr>
        <p:txBody>
          <a:bodyPr lIns="0" tIns="0" rIns="0" bIns="0" rtlCol="0" anchor="t">
            <a:spAutoFit/>
          </a:bodyPr>
          <a:lstStyle/>
          <a:p>
            <a:pPr marL="685800" indent="-685800">
              <a:lnSpc>
                <a:spcPts val="6580"/>
              </a:lnSpc>
              <a:buFont typeface="Arial" panose="020B0604020202020204" pitchFamily="34" charset="0"/>
              <a:buChar char="•"/>
            </a:pPr>
            <a:r>
              <a:rPr lang="en-US" sz="5400" dirty="0" smtClean="0">
                <a:solidFill>
                  <a:srgbClr val="000000"/>
                </a:solidFill>
                <a:latin typeface="Alatsi Bold"/>
              </a:rPr>
              <a:t>Introduction</a:t>
            </a:r>
            <a:endParaRPr lang="en-US" sz="5400" dirty="0" smtClean="0">
              <a:solidFill>
                <a:srgbClr val="000000"/>
              </a:solidFill>
              <a:latin typeface="Alatsi Bold"/>
            </a:endParaRPr>
          </a:p>
          <a:p>
            <a:pPr marL="685800" indent="-685800">
              <a:lnSpc>
                <a:spcPts val="6580"/>
              </a:lnSpc>
              <a:buFont typeface="Arial" panose="020B0604020202020204" pitchFamily="34" charset="0"/>
              <a:buChar char="•"/>
            </a:pPr>
            <a:endParaRPr lang="en-US" sz="5400" dirty="0">
              <a:solidFill>
                <a:srgbClr val="000000"/>
              </a:solidFill>
              <a:latin typeface="Alatsi Bold"/>
            </a:endParaRPr>
          </a:p>
          <a:p>
            <a:pPr marL="685800" indent="-685800">
              <a:lnSpc>
                <a:spcPts val="6580"/>
              </a:lnSpc>
              <a:buFont typeface="Arial" panose="020B0604020202020204" pitchFamily="34" charset="0"/>
              <a:buChar char="•"/>
            </a:pPr>
            <a:r>
              <a:rPr lang="en-US" sz="5400" dirty="0" smtClean="0">
                <a:solidFill>
                  <a:srgbClr val="000000"/>
                </a:solidFill>
                <a:latin typeface="Alatsi Bold"/>
              </a:rPr>
              <a:t>Technology</a:t>
            </a:r>
            <a:endParaRPr lang="en-US" sz="5400" dirty="0" smtClean="0">
              <a:solidFill>
                <a:srgbClr val="000000"/>
              </a:solidFill>
              <a:latin typeface="Alatsi Bold"/>
            </a:endParaRPr>
          </a:p>
          <a:p>
            <a:pPr marL="685800" indent="-685800">
              <a:lnSpc>
                <a:spcPts val="6580"/>
              </a:lnSpc>
              <a:buFont typeface="Arial" panose="020B0604020202020204" pitchFamily="34" charset="0"/>
              <a:buChar char="•"/>
            </a:pPr>
            <a:endParaRPr lang="en-US" sz="5400" dirty="0">
              <a:solidFill>
                <a:srgbClr val="000000"/>
              </a:solidFill>
              <a:latin typeface="Alatsi Bold"/>
            </a:endParaRPr>
          </a:p>
          <a:p>
            <a:pPr marL="685800" indent="-685800">
              <a:lnSpc>
                <a:spcPts val="6580"/>
              </a:lnSpc>
              <a:buFont typeface="Arial" panose="020B0604020202020204" pitchFamily="34" charset="0"/>
              <a:buChar char="•"/>
            </a:pPr>
            <a:r>
              <a:rPr lang="en-US" sz="5400" dirty="0" smtClean="0">
                <a:solidFill>
                  <a:srgbClr val="000000"/>
                </a:solidFill>
                <a:latin typeface="Alatsi Bold"/>
              </a:rPr>
              <a:t>Merits</a:t>
            </a:r>
            <a:endParaRPr lang="en-US" sz="5400" dirty="0" smtClean="0">
              <a:solidFill>
                <a:srgbClr val="000000"/>
              </a:solidFill>
              <a:latin typeface="Alatsi Bold"/>
            </a:endParaRPr>
          </a:p>
          <a:p>
            <a:pPr marL="685800" indent="-685800">
              <a:lnSpc>
                <a:spcPts val="6580"/>
              </a:lnSpc>
              <a:buFont typeface="Arial" panose="020B0604020202020204" pitchFamily="34" charset="0"/>
              <a:buChar char="•"/>
            </a:pPr>
            <a:endParaRPr lang="en-US" sz="5400" dirty="0">
              <a:solidFill>
                <a:srgbClr val="000000"/>
              </a:solidFill>
              <a:latin typeface="Alatsi Bold"/>
            </a:endParaRPr>
          </a:p>
          <a:p>
            <a:pPr marL="685800" indent="-685800">
              <a:lnSpc>
                <a:spcPts val="6580"/>
              </a:lnSpc>
              <a:buFont typeface="Arial" panose="020B0604020202020204" pitchFamily="34" charset="0"/>
              <a:buChar char="•"/>
            </a:pPr>
            <a:r>
              <a:rPr lang="en-US" sz="5400" dirty="0" smtClean="0">
                <a:solidFill>
                  <a:srgbClr val="000000"/>
                </a:solidFill>
                <a:latin typeface="Alatsi Bold"/>
              </a:rPr>
              <a:t>Demerits</a:t>
            </a:r>
            <a:endParaRPr lang="en-US" sz="5400" dirty="0" smtClean="0">
              <a:solidFill>
                <a:srgbClr val="000000"/>
              </a:solidFill>
              <a:latin typeface="Alatsi Bold"/>
            </a:endParaRPr>
          </a:p>
          <a:p>
            <a:pPr marL="685800" indent="-685800">
              <a:lnSpc>
                <a:spcPts val="6580"/>
              </a:lnSpc>
              <a:buFont typeface="Arial" panose="020B0604020202020204" pitchFamily="34" charset="0"/>
              <a:buChar char="•"/>
            </a:pPr>
            <a:endParaRPr lang="en-US" sz="5400" dirty="0" smtClean="0">
              <a:solidFill>
                <a:srgbClr val="000000"/>
              </a:solidFill>
              <a:latin typeface="Alatsi Bold"/>
            </a:endParaRPr>
          </a:p>
          <a:p>
            <a:pPr marL="685800" indent="-685800">
              <a:lnSpc>
                <a:spcPts val="6580"/>
              </a:lnSpc>
              <a:buFont typeface="Arial" panose="020B0604020202020204" pitchFamily="34" charset="0"/>
              <a:buChar char="•"/>
            </a:pPr>
            <a:r>
              <a:rPr lang="en-US" sz="5400" dirty="0" smtClean="0">
                <a:solidFill>
                  <a:srgbClr val="000000"/>
                </a:solidFill>
                <a:latin typeface="Alatsi Bold"/>
              </a:rPr>
              <a:t>Applications</a:t>
            </a:r>
            <a:endParaRPr lang="en-US" sz="5400" dirty="0">
              <a:solidFill>
                <a:srgbClr val="000000"/>
              </a:solidFill>
              <a:latin typeface="Alatsi Bold"/>
            </a:endParaRPr>
          </a:p>
        </p:txBody>
      </p:sp>
      <p:sp>
        <p:nvSpPr>
          <p:cNvPr id="7" name="TextBox 7"/>
          <p:cNvSpPr txBox="1"/>
          <p:nvPr/>
        </p:nvSpPr>
        <p:spPr>
          <a:xfrm>
            <a:off x="2397782" y="419100"/>
            <a:ext cx="13464081" cy="1392625"/>
          </a:xfrm>
          <a:prstGeom prst="rect">
            <a:avLst/>
          </a:prstGeom>
        </p:spPr>
        <p:txBody>
          <a:bodyPr lIns="0" tIns="0" rIns="0" bIns="0" rtlCol="0" anchor="t">
            <a:spAutoFit/>
          </a:bodyPr>
          <a:lstStyle/>
          <a:p>
            <a:pPr algn="ctr">
              <a:lnSpc>
                <a:spcPts val="11900"/>
              </a:lnSpc>
            </a:pPr>
            <a:r>
              <a:rPr lang="en-US" sz="8500" dirty="0" smtClean="0">
                <a:solidFill>
                  <a:srgbClr val="000000"/>
                </a:solidFill>
                <a:latin typeface="Alatsi Bold"/>
              </a:rPr>
              <a:t>Outlines</a:t>
            </a:r>
            <a:endParaRPr lang="en-US" sz="8500" dirty="0">
              <a:solidFill>
                <a:srgbClr val="000000"/>
              </a:solidFill>
              <a:latin typeface="Alatsi Bold"/>
            </a:endParaRPr>
          </a:p>
        </p:txBody>
      </p:sp>
      <p:sp>
        <p:nvSpPr>
          <p:cNvPr id="15" name="AutoShape 15"/>
          <p:cNvSpPr/>
          <p:nvPr/>
        </p:nvSpPr>
        <p:spPr>
          <a:xfrm>
            <a:off x="0" y="1352550"/>
            <a:ext cx="6177288" cy="0"/>
          </a:xfrm>
          <a:prstGeom prst="line">
            <a:avLst/>
          </a:prstGeom>
          <a:ln w="114300" cap="flat">
            <a:solidFill>
              <a:srgbClr val="9FC3D0"/>
            </a:solidFill>
            <a:prstDash val="solid"/>
            <a:headEnd type="none" w="sm" len="sm"/>
            <a:tailEnd type="none" w="sm" len="sm"/>
          </a:ln>
        </p:spPr>
      </p:sp>
      <p:sp>
        <p:nvSpPr>
          <p:cNvPr id="16" name="AutoShape 16"/>
          <p:cNvSpPr/>
          <p:nvPr/>
        </p:nvSpPr>
        <p:spPr>
          <a:xfrm>
            <a:off x="12309231" y="1314450"/>
            <a:ext cx="5978769" cy="0"/>
          </a:xfrm>
          <a:prstGeom prst="line">
            <a:avLst/>
          </a:prstGeom>
          <a:ln w="114300" cap="flat">
            <a:solidFill>
              <a:srgbClr val="9FC3D0"/>
            </a:solidFill>
            <a:prstDash val="solid"/>
            <a:headEnd type="none" w="sm" len="sm"/>
            <a:tailEnd type="none" w="sm" len="sm"/>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8" name="TextBox 8"/>
          <p:cNvSpPr txBox="1"/>
          <p:nvPr/>
        </p:nvSpPr>
        <p:spPr>
          <a:xfrm>
            <a:off x="2388171" y="-39193"/>
            <a:ext cx="13180039" cy="1392625"/>
          </a:xfrm>
          <a:prstGeom prst="rect">
            <a:avLst/>
          </a:prstGeom>
        </p:spPr>
        <p:txBody>
          <a:bodyPr lIns="0" tIns="0" rIns="0" bIns="0" rtlCol="0" anchor="t">
            <a:spAutoFit/>
          </a:bodyPr>
          <a:lstStyle/>
          <a:p>
            <a:pPr algn="ctr">
              <a:lnSpc>
                <a:spcPts val="11900"/>
              </a:lnSpc>
            </a:pPr>
            <a:r>
              <a:rPr lang="en-US" sz="8500" b="1" dirty="0">
                <a:solidFill>
                  <a:srgbClr val="000000"/>
                </a:solidFill>
                <a:latin typeface="Alatsi Bold"/>
              </a:rPr>
              <a:t>INTRODUCTION</a:t>
            </a:r>
            <a:endParaRPr lang="en-US" sz="8500" b="1" dirty="0">
              <a:solidFill>
                <a:srgbClr val="000000"/>
              </a:solidFill>
              <a:latin typeface="Alatsi Bold"/>
            </a:endParaRPr>
          </a:p>
        </p:txBody>
      </p:sp>
      <p:grpSp>
        <p:nvGrpSpPr>
          <p:cNvPr id="16" name="Group 2"/>
          <p:cNvGrpSpPr/>
          <p:nvPr/>
        </p:nvGrpSpPr>
        <p:grpSpPr>
          <a:xfrm>
            <a:off x="-31070" y="-180827"/>
            <a:ext cx="1996737" cy="10467827"/>
            <a:chOff x="0" y="-241102"/>
            <a:chExt cx="5652112" cy="13957102"/>
          </a:xfrm>
        </p:grpSpPr>
        <p:grpSp>
          <p:nvGrpSpPr>
            <p:cNvPr id="17" name="Group 3"/>
            <p:cNvGrpSpPr/>
            <p:nvPr/>
          </p:nvGrpSpPr>
          <p:grpSpPr>
            <a:xfrm>
              <a:off x="2826056" y="0"/>
              <a:ext cx="2826056" cy="13716000"/>
              <a:chOff x="0" y="0"/>
              <a:chExt cx="558233" cy="2709333"/>
            </a:xfrm>
          </p:grpSpPr>
          <p:sp>
            <p:nvSpPr>
              <p:cNvPr id="24" name="Freeform 4"/>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25" name="TextBox 5"/>
              <p:cNvSpPr txBox="1"/>
              <p:nvPr/>
            </p:nvSpPr>
            <p:spPr>
              <a:xfrm>
                <a:off x="0" y="-47625"/>
                <a:ext cx="558233" cy="2756958"/>
              </a:xfrm>
              <a:prstGeom prst="rect">
                <a:avLst/>
              </a:prstGeom>
            </p:spPr>
            <p:txBody>
              <a:bodyPr lIns="50800" tIns="50800" rIns="50800" bIns="50800" rtlCol="0" anchor="ctr"/>
              <a:lstStyle/>
              <a:p>
                <a:pPr algn="ctr">
                  <a:lnSpc>
                    <a:spcPts val="2660"/>
                  </a:lnSpc>
                </a:pPr>
              </a:p>
            </p:txBody>
          </p:sp>
        </p:grpSp>
        <p:grpSp>
          <p:nvGrpSpPr>
            <p:cNvPr id="18" name="Group 6"/>
            <p:cNvGrpSpPr/>
            <p:nvPr/>
          </p:nvGrpSpPr>
          <p:grpSpPr>
            <a:xfrm>
              <a:off x="1413028" y="-241102"/>
              <a:ext cx="2826056" cy="13957102"/>
              <a:chOff x="0" y="-47625"/>
              <a:chExt cx="558233" cy="2756958"/>
            </a:xfrm>
          </p:grpSpPr>
          <p:sp>
            <p:nvSpPr>
              <p:cNvPr id="22" name="Freeform 7"/>
              <p:cNvSpPr/>
              <p:nvPr/>
            </p:nvSpPr>
            <p:spPr>
              <a:xfrm>
                <a:off x="1" y="0"/>
                <a:ext cx="46257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23" name="TextBox 8"/>
              <p:cNvSpPr txBox="1"/>
              <p:nvPr/>
            </p:nvSpPr>
            <p:spPr>
              <a:xfrm>
                <a:off x="0" y="-47625"/>
                <a:ext cx="558233" cy="2756958"/>
              </a:xfrm>
              <a:prstGeom prst="rect">
                <a:avLst/>
              </a:prstGeom>
            </p:spPr>
            <p:txBody>
              <a:bodyPr lIns="50800" tIns="50800" rIns="50800" bIns="50800" rtlCol="0" anchor="ctr"/>
              <a:lstStyle/>
              <a:p>
                <a:pPr algn="ctr">
                  <a:lnSpc>
                    <a:spcPts val="2660"/>
                  </a:lnSpc>
                </a:pPr>
              </a:p>
            </p:txBody>
          </p:sp>
        </p:grpSp>
        <p:grpSp>
          <p:nvGrpSpPr>
            <p:cNvPr id="19" name="Group 9"/>
            <p:cNvGrpSpPr/>
            <p:nvPr/>
          </p:nvGrpSpPr>
          <p:grpSpPr>
            <a:xfrm>
              <a:off x="0" y="-241102"/>
              <a:ext cx="2826056" cy="13957102"/>
              <a:chOff x="0" y="-47625"/>
              <a:chExt cx="558233" cy="2756958"/>
            </a:xfrm>
          </p:grpSpPr>
          <p:sp>
            <p:nvSpPr>
              <p:cNvPr id="20" name="Freeform 10"/>
              <p:cNvSpPr/>
              <p:nvPr/>
            </p:nvSpPr>
            <p:spPr>
              <a:xfrm>
                <a:off x="1" y="0"/>
                <a:ext cx="400834"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21" name="TextBox 11"/>
              <p:cNvSpPr txBox="1"/>
              <p:nvPr/>
            </p:nvSpPr>
            <p:spPr>
              <a:xfrm>
                <a:off x="0" y="-47625"/>
                <a:ext cx="558233" cy="2756958"/>
              </a:xfrm>
              <a:prstGeom prst="rect">
                <a:avLst/>
              </a:prstGeom>
            </p:spPr>
            <p:txBody>
              <a:bodyPr lIns="50800" tIns="50800" rIns="50800" bIns="50800" rtlCol="0" anchor="ctr"/>
              <a:lstStyle/>
              <a:p>
                <a:pPr algn="ctr">
                  <a:lnSpc>
                    <a:spcPts val="2660"/>
                  </a:lnSpc>
                </a:pPr>
              </a:p>
            </p:txBody>
          </p:sp>
        </p:grpSp>
      </p:grpSp>
      <p:sp>
        <p:nvSpPr>
          <p:cNvPr id="26" name="TextBox 25"/>
          <p:cNvSpPr txBox="1"/>
          <p:nvPr/>
        </p:nvSpPr>
        <p:spPr>
          <a:xfrm>
            <a:off x="2381244" y="1673225"/>
            <a:ext cx="15163800" cy="8556188"/>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t>T</a:t>
            </a:r>
            <a:r>
              <a:rPr lang="en-US" sz="2800" dirty="0" smtClean="0"/>
              <a:t>he </a:t>
            </a:r>
            <a:r>
              <a:rPr lang="en-US" sz="2800" dirty="0"/>
              <a:t>sorting spectrum helps in choosing the most suitable method for efficiently organizing data</a:t>
            </a:r>
            <a:r>
              <a:rPr lang="en-US" sz="2800" dirty="0" smtClean="0"/>
              <a:t>.</a:t>
            </a:r>
            <a:endParaRPr lang="en-US" sz="2800" dirty="0" smtClean="0"/>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Bubble Sort is like comparing pairs of socks and swapping them if they're in the wrong order. </a:t>
            </a:r>
            <a:endParaRPr lang="en-US" sz="2800" dirty="0" smtClean="0"/>
          </a:p>
          <a:p>
            <a:pPr marL="457200" indent="-457200">
              <a:buFont typeface="Wingdings" panose="05000000000000000000" pitchFamily="2" charset="2"/>
              <a:buChar char="Ø"/>
            </a:pPr>
            <a:endParaRPr lang="en-US" sz="2800" dirty="0" smtClean="0"/>
          </a:p>
          <a:p>
            <a:pPr marL="457200" indent="-457200">
              <a:buFont typeface="Wingdings" panose="05000000000000000000" pitchFamily="2" charset="2"/>
              <a:buChar char="Ø"/>
            </a:pPr>
            <a:r>
              <a:rPr lang="en-US" sz="2800" dirty="0"/>
              <a:t>Selection Sort is like picking out the smallest item and placing it in its correct spot, then doing the same with the next smallest item</a:t>
            </a:r>
            <a:r>
              <a:rPr lang="en-US" sz="2800" dirty="0" smtClean="0"/>
              <a:t>.</a:t>
            </a:r>
            <a:endParaRPr lang="en-US" sz="2800" dirty="0" smtClean="0"/>
          </a:p>
          <a:p>
            <a:pPr marL="457200" indent="-457200">
              <a:buFont typeface="Wingdings" panose="05000000000000000000" pitchFamily="2" charset="2"/>
              <a:buChar char="Ø"/>
            </a:pPr>
            <a:endParaRPr lang="en-US" sz="2800" dirty="0" smtClean="0"/>
          </a:p>
          <a:p>
            <a:pPr marL="457200" indent="-457200">
              <a:buFont typeface="Wingdings" panose="05000000000000000000" pitchFamily="2" charset="2"/>
              <a:buChar char="Ø"/>
            </a:pPr>
            <a:r>
              <a:rPr lang="en-US" sz="2800" dirty="0"/>
              <a:t>Insertion Sort is like sorting a hand of cards by picking one card at a time and inserting it into its proper place among the sorted cards. </a:t>
            </a:r>
            <a:endParaRPr lang="en-US" sz="2800" dirty="0" smtClean="0"/>
          </a:p>
          <a:p>
            <a:pPr marL="457200" indent="-457200">
              <a:buFont typeface="Wingdings" panose="05000000000000000000" pitchFamily="2" charset="2"/>
              <a:buChar char="Ø"/>
            </a:pPr>
            <a:endParaRPr lang="en-US" sz="2800" dirty="0" smtClean="0"/>
          </a:p>
          <a:p>
            <a:pPr marL="457200" indent="-457200">
              <a:buFont typeface="Wingdings" panose="05000000000000000000" pitchFamily="2" charset="2"/>
              <a:buChar char="Ø"/>
            </a:pPr>
            <a:r>
              <a:rPr lang="en-US" sz="2800" dirty="0"/>
              <a:t>Merge Sort is like dividing a pile of papers into smaller piles, sorting each pile, and then merging them back together in order</a:t>
            </a:r>
            <a:r>
              <a:rPr lang="en-US" sz="2800" dirty="0" smtClean="0"/>
              <a:t>.</a:t>
            </a:r>
            <a:endParaRPr lang="en-US" sz="2800" dirty="0" smtClean="0"/>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Quick Sort is like quickly dividing a group of items into two based on a chosen "pivot" item and sorting each group separately. </a:t>
            </a:r>
            <a:endParaRPr lang="en-US" sz="2800" dirty="0" smtClean="0"/>
          </a:p>
          <a:p>
            <a:endParaRPr lang="en-US" sz="2800" dirty="0"/>
          </a:p>
          <a:p>
            <a:pPr marL="457200" indent="-457200">
              <a:buFont typeface="Wingdings" panose="05000000000000000000" pitchFamily="2" charset="2"/>
              <a:buChar char="Ø"/>
            </a:pPr>
            <a:r>
              <a:rPr lang="en-US" sz="2800" dirty="0"/>
              <a:t>Heap sort begins by constructing a max heap from the unsorted array, then iteratively swapping the first and last elements while removing the last element, effectively placing the maximum element at the end of the array until all elements are sorted.</a:t>
            </a:r>
            <a:br>
              <a:rPr lang="en-US" dirty="0"/>
            </a:b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00991" y="170462"/>
            <a:ext cx="16230600" cy="1392625"/>
          </a:xfrm>
          <a:prstGeom prst="rect">
            <a:avLst/>
          </a:prstGeom>
        </p:spPr>
        <p:txBody>
          <a:bodyPr lIns="0" tIns="0" rIns="0" bIns="0" rtlCol="0" anchor="t">
            <a:spAutoFit/>
          </a:bodyPr>
          <a:lstStyle/>
          <a:p>
            <a:pPr algn="ctr">
              <a:lnSpc>
                <a:spcPts val="11900"/>
              </a:lnSpc>
            </a:pPr>
            <a:r>
              <a:rPr lang="en-US" sz="8500" dirty="0" smtClean="0">
                <a:solidFill>
                  <a:srgbClr val="000000"/>
                </a:solidFill>
                <a:latin typeface="Alatsi Bold"/>
              </a:rPr>
              <a:t>Technology</a:t>
            </a:r>
            <a:endParaRPr lang="en-US" sz="8500" dirty="0">
              <a:solidFill>
                <a:srgbClr val="000000"/>
              </a:solidFill>
              <a:latin typeface="Alatsi Bold"/>
            </a:endParaRPr>
          </a:p>
        </p:txBody>
      </p:sp>
      <p:grpSp>
        <p:nvGrpSpPr>
          <p:cNvPr id="3" name="Group 3"/>
          <p:cNvGrpSpPr/>
          <p:nvPr/>
        </p:nvGrpSpPr>
        <p:grpSpPr>
          <a:xfrm>
            <a:off x="1787579" y="2004528"/>
            <a:ext cx="15433622" cy="5312224"/>
            <a:chOff x="110458" y="-263245"/>
            <a:chExt cx="20578162" cy="7082965"/>
          </a:xfrm>
        </p:grpSpPr>
        <p:grpSp>
          <p:nvGrpSpPr>
            <p:cNvPr id="4" name="Group 4"/>
            <p:cNvGrpSpPr/>
            <p:nvPr/>
          </p:nvGrpSpPr>
          <p:grpSpPr>
            <a:xfrm>
              <a:off x="110460" y="-263245"/>
              <a:ext cx="1473815" cy="1598890"/>
              <a:chOff x="60918" y="-145178"/>
              <a:chExt cx="812800" cy="881778"/>
            </a:xfrm>
          </p:grpSpPr>
          <p:sp>
            <p:nvSpPr>
              <p:cNvPr id="5" name="Freeform 5"/>
              <p:cNvSpPr/>
              <p:nvPr/>
            </p:nvSpPr>
            <p:spPr>
              <a:xfrm>
                <a:off x="60918" y="-145178"/>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7C6"/>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sp>
          <p:nvSpPr>
            <p:cNvPr id="7" name="TextBox 7"/>
            <p:cNvSpPr txBox="1"/>
            <p:nvPr/>
          </p:nvSpPr>
          <p:spPr>
            <a:xfrm>
              <a:off x="146762" y="-85038"/>
              <a:ext cx="1473815" cy="1117405"/>
            </a:xfrm>
            <a:prstGeom prst="rect">
              <a:avLst/>
            </a:prstGeom>
          </p:spPr>
          <p:txBody>
            <a:bodyPr lIns="0" tIns="0" rIns="0" bIns="0" rtlCol="0" anchor="t">
              <a:spAutoFit/>
            </a:bodyPr>
            <a:lstStyle/>
            <a:p>
              <a:pPr algn="ctr">
                <a:lnSpc>
                  <a:spcPts val="7050"/>
                </a:lnSpc>
              </a:pPr>
              <a:r>
                <a:rPr lang="en-US" sz="5035" dirty="0">
                  <a:solidFill>
                    <a:srgbClr val="000000"/>
                  </a:solidFill>
                  <a:latin typeface="Alatsi Bold"/>
                </a:rPr>
                <a:t>1</a:t>
              </a:r>
              <a:endParaRPr lang="en-US" sz="5035" dirty="0">
                <a:solidFill>
                  <a:srgbClr val="000000"/>
                </a:solidFill>
                <a:latin typeface="Alatsi Bold"/>
              </a:endParaRPr>
            </a:p>
          </p:txBody>
        </p:sp>
        <p:grpSp>
          <p:nvGrpSpPr>
            <p:cNvPr id="8" name="Group 8"/>
            <p:cNvGrpSpPr/>
            <p:nvPr/>
          </p:nvGrpSpPr>
          <p:grpSpPr>
            <a:xfrm>
              <a:off x="138170" y="1932650"/>
              <a:ext cx="1473815" cy="2145032"/>
              <a:chOff x="76200" y="-446372"/>
              <a:chExt cx="812800" cy="1182972"/>
            </a:xfrm>
          </p:grpSpPr>
          <p:sp>
            <p:nvSpPr>
              <p:cNvPr id="9" name="Freeform 9"/>
              <p:cNvSpPr/>
              <p:nvPr/>
            </p:nvSpPr>
            <p:spPr>
              <a:xfrm>
                <a:off x="76200" y="-446372"/>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7C6"/>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sp>
          <p:nvSpPr>
            <p:cNvPr id="11" name="TextBox 11"/>
            <p:cNvSpPr txBox="1"/>
            <p:nvPr/>
          </p:nvSpPr>
          <p:spPr>
            <a:xfrm>
              <a:off x="200032" y="2110854"/>
              <a:ext cx="1473815" cy="1117405"/>
            </a:xfrm>
            <a:prstGeom prst="rect">
              <a:avLst/>
            </a:prstGeom>
          </p:spPr>
          <p:txBody>
            <a:bodyPr lIns="0" tIns="0" rIns="0" bIns="0" rtlCol="0" anchor="t">
              <a:spAutoFit/>
            </a:bodyPr>
            <a:lstStyle/>
            <a:p>
              <a:pPr algn="ctr">
                <a:lnSpc>
                  <a:spcPts val="7050"/>
                </a:lnSpc>
              </a:pPr>
              <a:r>
                <a:rPr lang="en-US" sz="5035" dirty="0">
                  <a:solidFill>
                    <a:srgbClr val="000000"/>
                  </a:solidFill>
                  <a:latin typeface="Alatsi Bold"/>
                </a:rPr>
                <a:t>2</a:t>
              </a:r>
              <a:endParaRPr lang="en-US" sz="5035" dirty="0">
                <a:solidFill>
                  <a:srgbClr val="000000"/>
                </a:solidFill>
                <a:latin typeface="Alatsi Bold"/>
              </a:endParaRPr>
            </a:p>
          </p:txBody>
        </p:sp>
        <p:grpSp>
          <p:nvGrpSpPr>
            <p:cNvPr id="12" name="Group 12"/>
            <p:cNvGrpSpPr/>
            <p:nvPr/>
          </p:nvGrpSpPr>
          <p:grpSpPr>
            <a:xfrm>
              <a:off x="110458" y="4271099"/>
              <a:ext cx="1473815" cy="2548621"/>
              <a:chOff x="60917" y="-668949"/>
              <a:chExt cx="812800" cy="1405549"/>
            </a:xfrm>
          </p:grpSpPr>
          <p:sp>
            <p:nvSpPr>
              <p:cNvPr id="13" name="Freeform 13"/>
              <p:cNvSpPr/>
              <p:nvPr/>
            </p:nvSpPr>
            <p:spPr>
              <a:xfrm>
                <a:off x="60917" y="-668949"/>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7C6"/>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sp>
          <p:nvSpPr>
            <p:cNvPr id="15" name="TextBox 15"/>
            <p:cNvSpPr txBox="1"/>
            <p:nvPr/>
          </p:nvSpPr>
          <p:spPr>
            <a:xfrm>
              <a:off x="138171" y="4435755"/>
              <a:ext cx="1473815" cy="1117405"/>
            </a:xfrm>
            <a:prstGeom prst="rect">
              <a:avLst/>
            </a:prstGeom>
          </p:spPr>
          <p:txBody>
            <a:bodyPr lIns="0" tIns="0" rIns="0" bIns="0" rtlCol="0" anchor="t">
              <a:spAutoFit/>
            </a:bodyPr>
            <a:lstStyle/>
            <a:p>
              <a:pPr algn="ctr">
                <a:lnSpc>
                  <a:spcPts val="7050"/>
                </a:lnSpc>
              </a:pPr>
              <a:r>
                <a:rPr lang="en-US" sz="5035" dirty="0">
                  <a:solidFill>
                    <a:srgbClr val="000000"/>
                  </a:solidFill>
                  <a:latin typeface="Alatsi Bold"/>
                </a:rPr>
                <a:t>3</a:t>
              </a:r>
              <a:endParaRPr lang="en-US" sz="5035" dirty="0">
                <a:solidFill>
                  <a:srgbClr val="000000"/>
                </a:solidFill>
                <a:latin typeface="Alatsi Bold"/>
              </a:endParaRPr>
            </a:p>
          </p:txBody>
        </p:sp>
        <p:sp>
          <p:nvSpPr>
            <p:cNvPr id="16" name="TextBox 16"/>
            <p:cNvSpPr txBox="1"/>
            <p:nvPr/>
          </p:nvSpPr>
          <p:spPr>
            <a:xfrm>
              <a:off x="1711697" y="-63120"/>
              <a:ext cx="18976923" cy="671552"/>
            </a:xfrm>
            <a:prstGeom prst="rect">
              <a:avLst/>
            </a:prstGeom>
          </p:spPr>
          <p:txBody>
            <a:bodyPr lIns="0" tIns="0" rIns="0" bIns="0" rtlCol="0" anchor="t">
              <a:spAutoFit/>
            </a:bodyPr>
            <a:lstStyle/>
            <a:p>
              <a:pPr>
                <a:lnSpc>
                  <a:spcPts val="4320"/>
                </a:lnSpc>
              </a:pPr>
              <a:endParaRPr lang="en-US" sz="3085" dirty="0">
                <a:solidFill>
                  <a:srgbClr val="000000"/>
                </a:solidFill>
                <a:latin typeface="Alatsi Bold"/>
              </a:endParaRPr>
            </a:p>
          </p:txBody>
        </p:sp>
        <p:sp>
          <p:nvSpPr>
            <p:cNvPr id="18" name="TextBox 18"/>
            <p:cNvSpPr txBox="1"/>
            <p:nvPr/>
          </p:nvSpPr>
          <p:spPr>
            <a:xfrm>
              <a:off x="1711697" y="5417400"/>
              <a:ext cx="18976923" cy="671552"/>
            </a:xfrm>
            <a:prstGeom prst="rect">
              <a:avLst/>
            </a:prstGeom>
          </p:spPr>
          <p:txBody>
            <a:bodyPr lIns="0" tIns="0" rIns="0" bIns="0" rtlCol="0" anchor="t">
              <a:spAutoFit/>
            </a:bodyPr>
            <a:lstStyle/>
            <a:p>
              <a:pPr>
                <a:lnSpc>
                  <a:spcPts val="4320"/>
                </a:lnSpc>
              </a:pPr>
              <a:endParaRPr lang="en-US" sz="3085" dirty="0">
                <a:solidFill>
                  <a:srgbClr val="000000"/>
                </a:solidFill>
                <a:latin typeface="Alatsi Bold"/>
              </a:endParaRPr>
            </a:p>
          </p:txBody>
        </p:sp>
      </p:grpSp>
      <p:grpSp>
        <p:nvGrpSpPr>
          <p:cNvPr id="19" name="Group 19"/>
          <p:cNvGrpSpPr/>
          <p:nvPr/>
        </p:nvGrpSpPr>
        <p:grpSpPr>
          <a:xfrm>
            <a:off x="627362" y="0"/>
            <a:ext cx="937061" cy="10287000"/>
            <a:chOff x="0" y="0"/>
            <a:chExt cx="246798" cy="2709333"/>
          </a:xfrm>
        </p:grpSpPr>
        <p:sp>
          <p:nvSpPr>
            <p:cNvPr id="20" name="Freeform 20"/>
            <p:cNvSpPr/>
            <p:nvPr/>
          </p:nvSpPr>
          <p:spPr>
            <a:xfrm>
              <a:off x="0" y="0"/>
              <a:ext cx="246798" cy="2709333"/>
            </a:xfrm>
            <a:custGeom>
              <a:avLst/>
              <a:gdLst/>
              <a:ahLst/>
              <a:cxnLst/>
              <a:rect l="l" t="t" r="r" b="b"/>
              <a:pathLst>
                <a:path w="246798" h="2709333">
                  <a:moveTo>
                    <a:pt x="0" y="0"/>
                  </a:moveTo>
                  <a:lnTo>
                    <a:pt x="246798" y="0"/>
                  </a:lnTo>
                  <a:lnTo>
                    <a:pt x="246798" y="2709333"/>
                  </a:lnTo>
                  <a:lnTo>
                    <a:pt x="0" y="2709333"/>
                  </a:lnTo>
                  <a:close/>
                </a:path>
              </a:pathLst>
            </a:custGeom>
            <a:solidFill>
              <a:srgbClr val="F6F3EB"/>
            </a:solidFill>
          </p:spPr>
        </p:sp>
        <p:sp>
          <p:nvSpPr>
            <p:cNvPr id="21" name="TextBox 21"/>
            <p:cNvSpPr txBox="1"/>
            <p:nvPr/>
          </p:nvSpPr>
          <p:spPr>
            <a:xfrm>
              <a:off x="0" y="-38100"/>
              <a:ext cx="246798" cy="2747433"/>
            </a:xfrm>
            <a:prstGeom prst="rect">
              <a:avLst/>
            </a:prstGeom>
          </p:spPr>
          <p:txBody>
            <a:bodyPr lIns="50800" tIns="50800" rIns="50800" bIns="50800" rtlCol="0" anchor="ctr"/>
            <a:lstStyle/>
            <a:p>
              <a:pPr algn="ctr">
                <a:lnSpc>
                  <a:spcPts val="2660"/>
                </a:lnSpc>
              </a:pPr>
            </a:p>
          </p:txBody>
        </p:sp>
      </p:grpSp>
      <p:sp>
        <p:nvSpPr>
          <p:cNvPr id="23" name="AutoShape 23"/>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sp>
        <p:nvSpPr>
          <p:cNvPr id="24" name="AutoShape 24"/>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sp>
        <p:nvSpPr>
          <p:cNvPr id="32" name="TextBox 31"/>
          <p:cNvSpPr txBox="1"/>
          <p:nvPr/>
        </p:nvSpPr>
        <p:spPr>
          <a:xfrm>
            <a:off x="3581399" y="2203267"/>
            <a:ext cx="2368021" cy="707886"/>
          </a:xfrm>
          <a:prstGeom prst="rect">
            <a:avLst/>
          </a:prstGeom>
          <a:noFill/>
        </p:spPr>
        <p:txBody>
          <a:bodyPr wrap="none" rtlCol="0">
            <a:spAutoFit/>
          </a:bodyPr>
          <a:lstStyle/>
          <a:p>
            <a:r>
              <a:rPr lang="en-US" sz="4000" dirty="0" smtClean="0">
                <a:latin typeface="Alatsi Bold"/>
              </a:rPr>
              <a:t>Matplotlib</a:t>
            </a:r>
            <a:endParaRPr lang="en-US" sz="4000" dirty="0">
              <a:latin typeface="Alatsi Bold"/>
            </a:endParaRPr>
          </a:p>
        </p:txBody>
      </p:sp>
      <p:sp>
        <p:nvSpPr>
          <p:cNvPr id="34" name="TextBox 33"/>
          <p:cNvSpPr txBox="1"/>
          <p:nvPr/>
        </p:nvSpPr>
        <p:spPr>
          <a:xfrm>
            <a:off x="3601216" y="3850186"/>
            <a:ext cx="1810111" cy="707886"/>
          </a:xfrm>
          <a:prstGeom prst="rect">
            <a:avLst/>
          </a:prstGeom>
          <a:noFill/>
        </p:spPr>
        <p:txBody>
          <a:bodyPr wrap="none" rtlCol="0">
            <a:spAutoFit/>
          </a:bodyPr>
          <a:lstStyle/>
          <a:p>
            <a:r>
              <a:rPr lang="en-US" sz="4000" dirty="0" smtClean="0">
                <a:solidFill>
                  <a:srgbClr val="000000"/>
                </a:solidFill>
                <a:latin typeface="Alatsi Bold"/>
              </a:rPr>
              <a:t>Numpy</a:t>
            </a:r>
            <a:endParaRPr lang="en-US" dirty="0">
              <a:solidFill>
                <a:srgbClr val="000000"/>
              </a:solidFill>
              <a:latin typeface="Alatsi Bold"/>
            </a:endParaRPr>
          </a:p>
        </p:txBody>
      </p:sp>
      <p:sp>
        <p:nvSpPr>
          <p:cNvPr id="35" name="TextBox 34"/>
          <p:cNvSpPr txBox="1"/>
          <p:nvPr/>
        </p:nvSpPr>
        <p:spPr>
          <a:xfrm>
            <a:off x="3692415" y="5528778"/>
            <a:ext cx="1781257" cy="707886"/>
          </a:xfrm>
          <a:prstGeom prst="rect">
            <a:avLst/>
          </a:prstGeom>
          <a:noFill/>
        </p:spPr>
        <p:txBody>
          <a:bodyPr wrap="none" rtlCol="0">
            <a:spAutoFit/>
          </a:bodyPr>
          <a:lstStyle/>
          <a:p>
            <a:r>
              <a:rPr lang="en-US" sz="4000" dirty="0" smtClean="0">
                <a:latin typeface="Alatsi Bold"/>
              </a:rPr>
              <a:t>Python</a:t>
            </a:r>
            <a:endParaRPr lang="en-US" dirty="0">
              <a:latin typeface="Alatsi Bold"/>
            </a:endParaRPr>
          </a:p>
        </p:txBody>
      </p:sp>
      <p:sp>
        <p:nvSpPr>
          <p:cNvPr id="26" name="TextBox 25"/>
          <p:cNvSpPr txBox="1"/>
          <p:nvPr/>
        </p:nvSpPr>
        <p:spPr>
          <a:xfrm>
            <a:off x="3692415" y="7101210"/>
            <a:ext cx="4710264" cy="707886"/>
          </a:xfrm>
          <a:prstGeom prst="rect">
            <a:avLst/>
          </a:prstGeom>
          <a:noFill/>
        </p:spPr>
        <p:txBody>
          <a:bodyPr wrap="none" rtlCol="0">
            <a:spAutoFit/>
          </a:bodyPr>
          <a:lstStyle/>
          <a:p>
            <a:r>
              <a:rPr lang="en-US" sz="4000" dirty="0" smtClean="0">
                <a:latin typeface="Alatsi Bold"/>
              </a:rPr>
              <a:t>Gui’s  tkinter  library</a:t>
            </a:r>
            <a:endParaRPr lang="en-US" sz="2400" dirty="0">
              <a:latin typeface="Alatsi Bold"/>
            </a:endParaRPr>
          </a:p>
        </p:txBody>
      </p:sp>
      <p:sp>
        <p:nvSpPr>
          <p:cNvPr id="27" name="Freeform 13"/>
          <p:cNvSpPr/>
          <p:nvPr/>
        </p:nvSpPr>
        <p:spPr>
          <a:xfrm>
            <a:off x="1808363" y="7057678"/>
            <a:ext cx="1105361" cy="110536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7C6"/>
          </a:solidFill>
        </p:spPr>
      </p:sp>
      <p:sp>
        <p:nvSpPr>
          <p:cNvPr id="17" name="Rectangle 16"/>
          <p:cNvSpPr/>
          <p:nvPr/>
        </p:nvSpPr>
        <p:spPr>
          <a:xfrm>
            <a:off x="2055566" y="7213407"/>
            <a:ext cx="569387" cy="923330"/>
          </a:xfrm>
          <a:prstGeom prst="rect">
            <a:avLst/>
          </a:prstGeom>
        </p:spPr>
        <p:txBody>
          <a:bodyPr wrap="none">
            <a:spAutoFit/>
          </a:bodyPr>
          <a:lstStyle/>
          <a:p>
            <a:r>
              <a:rPr lang="en-US" sz="5400" dirty="0">
                <a:latin typeface="Alatsi Bold"/>
              </a:rPr>
              <a:t>4</a:t>
            </a:r>
            <a:endParaRPr lang="en-US" dirty="0">
              <a:latin typeface="Alatsi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28700" y="-22150"/>
            <a:ext cx="16230600" cy="1392625"/>
          </a:xfrm>
          <a:prstGeom prst="rect">
            <a:avLst/>
          </a:prstGeom>
        </p:spPr>
        <p:txBody>
          <a:bodyPr lIns="0" tIns="0" rIns="0" bIns="0" rtlCol="0" anchor="t">
            <a:spAutoFit/>
          </a:bodyPr>
          <a:lstStyle/>
          <a:p>
            <a:pPr algn="ctr">
              <a:lnSpc>
                <a:spcPts val="11900"/>
              </a:lnSpc>
            </a:pPr>
            <a:r>
              <a:rPr lang="en-US" sz="8500" dirty="0" smtClean="0">
                <a:solidFill>
                  <a:srgbClr val="000000"/>
                </a:solidFill>
                <a:latin typeface="Alatsi Bold"/>
              </a:rPr>
              <a:t>Merits</a:t>
            </a:r>
            <a:endParaRPr lang="en-US" sz="8500" dirty="0">
              <a:solidFill>
                <a:srgbClr val="000000"/>
              </a:solidFill>
              <a:latin typeface="Alatsi Bold"/>
            </a:endParaRPr>
          </a:p>
        </p:txBody>
      </p:sp>
      <p:sp>
        <p:nvSpPr>
          <p:cNvPr id="5" name="Freeform 5"/>
          <p:cNvSpPr/>
          <p:nvPr/>
        </p:nvSpPr>
        <p:spPr>
          <a:xfrm>
            <a:off x="381000" y="2019300"/>
            <a:ext cx="5486400" cy="3246571"/>
          </a:xfrm>
          <a:custGeom>
            <a:avLst/>
            <a:gdLst/>
            <a:ahLst/>
            <a:cxnLst/>
            <a:rect l="l" t="t" r="r" b="b"/>
            <a:pathLst>
              <a:path w="1939142" h="1164413">
                <a:moveTo>
                  <a:pt x="53627" y="0"/>
                </a:moveTo>
                <a:lnTo>
                  <a:pt x="1885515" y="0"/>
                </a:lnTo>
                <a:cubicBezTo>
                  <a:pt x="1915133" y="0"/>
                  <a:pt x="1939142" y="24010"/>
                  <a:pt x="1939142" y="53627"/>
                </a:cubicBezTo>
                <a:lnTo>
                  <a:pt x="1939142" y="1110786"/>
                </a:lnTo>
                <a:cubicBezTo>
                  <a:pt x="1939142" y="1140403"/>
                  <a:pt x="1915133" y="1164413"/>
                  <a:pt x="1885515" y="1164413"/>
                </a:cubicBezTo>
                <a:lnTo>
                  <a:pt x="53627" y="1164413"/>
                </a:lnTo>
                <a:cubicBezTo>
                  <a:pt x="39404" y="1164413"/>
                  <a:pt x="25764" y="1158763"/>
                  <a:pt x="15707" y="1148706"/>
                </a:cubicBezTo>
                <a:cubicBezTo>
                  <a:pt x="5650" y="1138649"/>
                  <a:pt x="0" y="1125009"/>
                  <a:pt x="0" y="1110786"/>
                </a:cubicBezTo>
                <a:lnTo>
                  <a:pt x="0" y="53627"/>
                </a:lnTo>
                <a:cubicBezTo>
                  <a:pt x="0" y="39404"/>
                  <a:pt x="5650" y="25764"/>
                  <a:pt x="15707" y="15707"/>
                </a:cubicBezTo>
                <a:cubicBezTo>
                  <a:pt x="25764" y="5650"/>
                  <a:pt x="39404" y="0"/>
                  <a:pt x="53627" y="0"/>
                </a:cubicBezTo>
                <a:close/>
              </a:path>
            </a:pathLst>
          </a:custGeom>
          <a:solidFill>
            <a:schemeClr val="accent5">
              <a:lumMod val="40000"/>
              <a:lumOff val="60000"/>
            </a:schemeClr>
          </a:solidFill>
        </p:spPr>
      </p:sp>
      <p:sp>
        <p:nvSpPr>
          <p:cNvPr id="21" name="AutoShape 21"/>
          <p:cNvSpPr/>
          <p:nvPr/>
        </p:nvSpPr>
        <p:spPr>
          <a:xfrm>
            <a:off x="0" y="674162"/>
            <a:ext cx="7105264" cy="19050"/>
          </a:xfrm>
          <a:prstGeom prst="line">
            <a:avLst/>
          </a:prstGeom>
          <a:ln w="114300" cap="flat">
            <a:solidFill>
              <a:srgbClr val="9FC3D0"/>
            </a:solidFill>
            <a:prstDash val="solid"/>
            <a:headEnd type="none" w="sm" len="sm"/>
            <a:tailEnd type="none" w="sm" len="sm"/>
          </a:ln>
        </p:spPr>
      </p:sp>
      <p:sp>
        <p:nvSpPr>
          <p:cNvPr id="22" name="AutoShape 22"/>
          <p:cNvSpPr/>
          <p:nvPr/>
        </p:nvSpPr>
        <p:spPr>
          <a:xfrm>
            <a:off x="11182736" y="710924"/>
            <a:ext cx="7105264" cy="19050"/>
          </a:xfrm>
          <a:prstGeom prst="line">
            <a:avLst/>
          </a:prstGeom>
          <a:ln w="114300" cap="flat">
            <a:solidFill>
              <a:srgbClr val="9FC3D0"/>
            </a:solidFill>
            <a:prstDash val="solid"/>
            <a:headEnd type="none" w="sm" len="sm"/>
            <a:tailEnd type="none" w="sm" len="sm"/>
          </a:ln>
        </p:spPr>
      </p:sp>
      <p:sp>
        <p:nvSpPr>
          <p:cNvPr id="29" name="Freeform 5"/>
          <p:cNvSpPr/>
          <p:nvPr/>
        </p:nvSpPr>
        <p:spPr>
          <a:xfrm>
            <a:off x="6400800" y="6428508"/>
            <a:ext cx="5486400" cy="3246571"/>
          </a:xfrm>
          <a:custGeom>
            <a:avLst/>
            <a:gdLst/>
            <a:ahLst/>
            <a:cxnLst/>
            <a:rect l="l" t="t" r="r" b="b"/>
            <a:pathLst>
              <a:path w="1939142" h="1164413">
                <a:moveTo>
                  <a:pt x="53627" y="0"/>
                </a:moveTo>
                <a:lnTo>
                  <a:pt x="1885515" y="0"/>
                </a:lnTo>
                <a:cubicBezTo>
                  <a:pt x="1915133" y="0"/>
                  <a:pt x="1939142" y="24010"/>
                  <a:pt x="1939142" y="53627"/>
                </a:cubicBezTo>
                <a:lnTo>
                  <a:pt x="1939142" y="1110786"/>
                </a:lnTo>
                <a:cubicBezTo>
                  <a:pt x="1939142" y="1140403"/>
                  <a:pt x="1915133" y="1164413"/>
                  <a:pt x="1885515" y="1164413"/>
                </a:cubicBezTo>
                <a:lnTo>
                  <a:pt x="53627" y="1164413"/>
                </a:lnTo>
                <a:cubicBezTo>
                  <a:pt x="39404" y="1164413"/>
                  <a:pt x="25764" y="1158763"/>
                  <a:pt x="15707" y="1148706"/>
                </a:cubicBezTo>
                <a:cubicBezTo>
                  <a:pt x="5650" y="1138649"/>
                  <a:pt x="0" y="1125009"/>
                  <a:pt x="0" y="1110786"/>
                </a:cubicBezTo>
                <a:lnTo>
                  <a:pt x="0" y="53627"/>
                </a:lnTo>
                <a:cubicBezTo>
                  <a:pt x="0" y="39404"/>
                  <a:pt x="5650" y="25764"/>
                  <a:pt x="15707" y="15707"/>
                </a:cubicBezTo>
                <a:cubicBezTo>
                  <a:pt x="25764" y="5650"/>
                  <a:pt x="39404" y="0"/>
                  <a:pt x="53627" y="0"/>
                </a:cubicBezTo>
                <a:close/>
              </a:path>
            </a:pathLst>
          </a:custGeom>
          <a:solidFill>
            <a:schemeClr val="accent5">
              <a:lumMod val="40000"/>
              <a:lumOff val="60000"/>
            </a:schemeClr>
          </a:solidFill>
        </p:spPr>
      </p:sp>
      <p:sp>
        <p:nvSpPr>
          <p:cNvPr id="30" name="Freeform 5"/>
          <p:cNvSpPr/>
          <p:nvPr/>
        </p:nvSpPr>
        <p:spPr>
          <a:xfrm>
            <a:off x="381000" y="6438900"/>
            <a:ext cx="5486400" cy="3246571"/>
          </a:xfrm>
          <a:custGeom>
            <a:avLst/>
            <a:gdLst/>
            <a:ahLst/>
            <a:cxnLst/>
            <a:rect l="l" t="t" r="r" b="b"/>
            <a:pathLst>
              <a:path w="1939142" h="1164413">
                <a:moveTo>
                  <a:pt x="53627" y="0"/>
                </a:moveTo>
                <a:lnTo>
                  <a:pt x="1885515" y="0"/>
                </a:lnTo>
                <a:cubicBezTo>
                  <a:pt x="1915133" y="0"/>
                  <a:pt x="1939142" y="24010"/>
                  <a:pt x="1939142" y="53627"/>
                </a:cubicBezTo>
                <a:lnTo>
                  <a:pt x="1939142" y="1110786"/>
                </a:lnTo>
                <a:cubicBezTo>
                  <a:pt x="1939142" y="1140403"/>
                  <a:pt x="1915133" y="1164413"/>
                  <a:pt x="1885515" y="1164413"/>
                </a:cubicBezTo>
                <a:lnTo>
                  <a:pt x="53627" y="1164413"/>
                </a:lnTo>
                <a:cubicBezTo>
                  <a:pt x="39404" y="1164413"/>
                  <a:pt x="25764" y="1158763"/>
                  <a:pt x="15707" y="1148706"/>
                </a:cubicBezTo>
                <a:cubicBezTo>
                  <a:pt x="5650" y="1138649"/>
                  <a:pt x="0" y="1125009"/>
                  <a:pt x="0" y="1110786"/>
                </a:cubicBezTo>
                <a:lnTo>
                  <a:pt x="0" y="53627"/>
                </a:lnTo>
                <a:cubicBezTo>
                  <a:pt x="0" y="39404"/>
                  <a:pt x="5650" y="25764"/>
                  <a:pt x="15707" y="15707"/>
                </a:cubicBezTo>
                <a:cubicBezTo>
                  <a:pt x="25764" y="5650"/>
                  <a:pt x="39404" y="0"/>
                  <a:pt x="53627" y="0"/>
                </a:cubicBezTo>
                <a:close/>
              </a:path>
            </a:pathLst>
          </a:custGeom>
        </p:spPr>
        <p:style>
          <a:lnRef idx="2">
            <a:schemeClr val="accent5"/>
          </a:lnRef>
          <a:fillRef idx="1">
            <a:schemeClr val="lt1"/>
          </a:fillRef>
          <a:effectRef idx="0">
            <a:schemeClr val="accent5"/>
          </a:effectRef>
          <a:fontRef idx="minor">
            <a:schemeClr val="dk1"/>
          </a:fontRef>
        </p:style>
      </p:sp>
      <p:sp>
        <p:nvSpPr>
          <p:cNvPr id="31" name="Freeform 5"/>
          <p:cNvSpPr/>
          <p:nvPr/>
        </p:nvSpPr>
        <p:spPr>
          <a:xfrm>
            <a:off x="12379036" y="2019298"/>
            <a:ext cx="5486400" cy="3246571"/>
          </a:xfrm>
          <a:custGeom>
            <a:avLst/>
            <a:gdLst/>
            <a:ahLst/>
            <a:cxnLst/>
            <a:rect l="l" t="t" r="r" b="b"/>
            <a:pathLst>
              <a:path w="1939142" h="1164413">
                <a:moveTo>
                  <a:pt x="53627" y="0"/>
                </a:moveTo>
                <a:lnTo>
                  <a:pt x="1885515" y="0"/>
                </a:lnTo>
                <a:cubicBezTo>
                  <a:pt x="1915133" y="0"/>
                  <a:pt x="1939142" y="24010"/>
                  <a:pt x="1939142" y="53627"/>
                </a:cubicBezTo>
                <a:lnTo>
                  <a:pt x="1939142" y="1110786"/>
                </a:lnTo>
                <a:cubicBezTo>
                  <a:pt x="1939142" y="1140403"/>
                  <a:pt x="1915133" y="1164413"/>
                  <a:pt x="1885515" y="1164413"/>
                </a:cubicBezTo>
                <a:lnTo>
                  <a:pt x="53627" y="1164413"/>
                </a:lnTo>
                <a:cubicBezTo>
                  <a:pt x="39404" y="1164413"/>
                  <a:pt x="25764" y="1158763"/>
                  <a:pt x="15707" y="1148706"/>
                </a:cubicBezTo>
                <a:cubicBezTo>
                  <a:pt x="5650" y="1138649"/>
                  <a:pt x="0" y="1125009"/>
                  <a:pt x="0" y="1110786"/>
                </a:cubicBezTo>
                <a:lnTo>
                  <a:pt x="0" y="53627"/>
                </a:lnTo>
                <a:cubicBezTo>
                  <a:pt x="0" y="39404"/>
                  <a:pt x="5650" y="25764"/>
                  <a:pt x="15707" y="15707"/>
                </a:cubicBezTo>
                <a:cubicBezTo>
                  <a:pt x="25764" y="5650"/>
                  <a:pt x="39404" y="0"/>
                  <a:pt x="53627" y="0"/>
                </a:cubicBezTo>
                <a:close/>
              </a:path>
            </a:pathLst>
          </a:custGeom>
          <a:solidFill>
            <a:schemeClr val="accent5">
              <a:lumMod val="40000"/>
              <a:lumOff val="60000"/>
            </a:schemeClr>
          </a:solidFill>
        </p:spPr>
      </p:sp>
      <p:sp>
        <p:nvSpPr>
          <p:cNvPr id="32" name="Freeform 5"/>
          <p:cNvSpPr/>
          <p:nvPr/>
        </p:nvSpPr>
        <p:spPr>
          <a:xfrm>
            <a:off x="6407727" y="2019299"/>
            <a:ext cx="5486400" cy="3246571"/>
          </a:xfrm>
          <a:custGeom>
            <a:avLst/>
            <a:gdLst/>
            <a:ahLst/>
            <a:cxnLst/>
            <a:rect l="l" t="t" r="r" b="b"/>
            <a:pathLst>
              <a:path w="1939142" h="1164413">
                <a:moveTo>
                  <a:pt x="53627" y="0"/>
                </a:moveTo>
                <a:lnTo>
                  <a:pt x="1885515" y="0"/>
                </a:lnTo>
                <a:cubicBezTo>
                  <a:pt x="1915133" y="0"/>
                  <a:pt x="1939142" y="24010"/>
                  <a:pt x="1939142" y="53627"/>
                </a:cubicBezTo>
                <a:lnTo>
                  <a:pt x="1939142" y="1110786"/>
                </a:lnTo>
                <a:cubicBezTo>
                  <a:pt x="1939142" y="1140403"/>
                  <a:pt x="1915133" y="1164413"/>
                  <a:pt x="1885515" y="1164413"/>
                </a:cubicBezTo>
                <a:lnTo>
                  <a:pt x="53627" y="1164413"/>
                </a:lnTo>
                <a:cubicBezTo>
                  <a:pt x="39404" y="1164413"/>
                  <a:pt x="25764" y="1158763"/>
                  <a:pt x="15707" y="1148706"/>
                </a:cubicBezTo>
                <a:cubicBezTo>
                  <a:pt x="5650" y="1138649"/>
                  <a:pt x="0" y="1125009"/>
                  <a:pt x="0" y="1110786"/>
                </a:cubicBezTo>
                <a:lnTo>
                  <a:pt x="0" y="53627"/>
                </a:lnTo>
                <a:cubicBezTo>
                  <a:pt x="0" y="39404"/>
                  <a:pt x="5650" y="25764"/>
                  <a:pt x="15707" y="15707"/>
                </a:cubicBezTo>
                <a:cubicBezTo>
                  <a:pt x="25764" y="5650"/>
                  <a:pt x="39404" y="0"/>
                  <a:pt x="53627" y="0"/>
                </a:cubicBezTo>
                <a:close/>
              </a:path>
            </a:pathLst>
          </a:custGeom>
        </p:spPr>
        <p:style>
          <a:lnRef idx="2">
            <a:schemeClr val="accent5"/>
          </a:lnRef>
          <a:fillRef idx="1">
            <a:schemeClr val="lt1"/>
          </a:fillRef>
          <a:effectRef idx="0">
            <a:schemeClr val="accent5"/>
          </a:effectRef>
          <a:fontRef idx="minor">
            <a:schemeClr val="dk1"/>
          </a:fontRef>
        </p:style>
      </p:sp>
      <p:sp>
        <p:nvSpPr>
          <p:cNvPr id="33" name="Freeform 5"/>
          <p:cNvSpPr/>
          <p:nvPr/>
        </p:nvSpPr>
        <p:spPr>
          <a:xfrm>
            <a:off x="12344400" y="6404263"/>
            <a:ext cx="5486400" cy="3246571"/>
          </a:xfrm>
          <a:custGeom>
            <a:avLst/>
            <a:gdLst/>
            <a:ahLst/>
            <a:cxnLst/>
            <a:rect l="l" t="t" r="r" b="b"/>
            <a:pathLst>
              <a:path w="1939142" h="1164413">
                <a:moveTo>
                  <a:pt x="53627" y="0"/>
                </a:moveTo>
                <a:lnTo>
                  <a:pt x="1885515" y="0"/>
                </a:lnTo>
                <a:cubicBezTo>
                  <a:pt x="1915133" y="0"/>
                  <a:pt x="1939142" y="24010"/>
                  <a:pt x="1939142" y="53627"/>
                </a:cubicBezTo>
                <a:lnTo>
                  <a:pt x="1939142" y="1110786"/>
                </a:lnTo>
                <a:cubicBezTo>
                  <a:pt x="1939142" y="1140403"/>
                  <a:pt x="1915133" y="1164413"/>
                  <a:pt x="1885515" y="1164413"/>
                </a:cubicBezTo>
                <a:lnTo>
                  <a:pt x="53627" y="1164413"/>
                </a:lnTo>
                <a:cubicBezTo>
                  <a:pt x="39404" y="1164413"/>
                  <a:pt x="25764" y="1158763"/>
                  <a:pt x="15707" y="1148706"/>
                </a:cubicBezTo>
                <a:cubicBezTo>
                  <a:pt x="5650" y="1138649"/>
                  <a:pt x="0" y="1125009"/>
                  <a:pt x="0" y="1110786"/>
                </a:cubicBezTo>
                <a:lnTo>
                  <a:pt x="0" y="53627"/>
                </a:lnTo>
                <a:cubicBezTo>
                  <a:pt x="0" y="39404"/>
                  <a:pt x="5650" y="25764"/>
                  <a:pt x="15707" y="15707"/>
                </a:cubicBezTo>
                <a:cubicBezTo>
                  <a:pt x="25764" y="5650"/>
                  <a:pt x="39404" y="0"/>
                  <a:pt x="53627" y="0"/>
                </a:cubicBezTo>
                <a:close/>
              </a:path>
            </a:pathLst>
          </a:custGeom>
        </p:spPr>
        <p:style>
          <a:lnRef idx="2">
            <a:schemeClr val="accent5"/>
          </a:lnRef>
          <a:fillRef idx="1">
            <a:schemeClr val="lt1"/>
          </a:fillRef>
          <a:effectRef idx="0">
            <a:schemeClr val="accent5"/>
          </a:effectRef>
          <a:fontRef idx="minor">
            <a:schemeClr val="dk1"/>
          </a:fontRef>
        </p:style>
      </p:sp>
      <p:sp>
        <p:nvSpPr>
          <p:cNvPr id="34" name="TextBox 33"/>
          <p:cNvSpPr txBox="1"/>
          <p:nvPr/>
        </p:nvSpPr>
        <p:spPr>
          <a:xfrm>
            <a:off x="495300" y="2119091"/>
            <a:ext cx="5257800" cy="2554545"/>
          </a:xfrm>
          <a:prstGeom prst="rect">
            <a:avLst/>
          </a:prstGeom>
          <a:noFill/>
        </p:spPr>
        <p:txBody>
          <a:bodyPr wrap="square" rtlCol="0">
            <a:spAutoFit/>
          </a:bodyPr>
          <a:lstStyle/>
          <a:p>
            <a:r>
              <a:rPr lang="en-US" sz="3200" b="1" dirty="0"/>
              <a:t>Bubble Sort</a:t>
            </a:r>
            <a:r>
              <a:rPr lang="en-US" sz="3200" b="1" dirty="0" smtClean="0"/>
              <a:t>:</a:t>
            </a:r>
            <a:endParaRPr lang="en-US" sz="3200" b="1" dirty="0" smtClean="0"/>
          </a:p>
          <a:p>
            <a:endParaRPr lang="en-US" sz="3200" dirty="0" smtClean="0"/>
          </a:p>
          <a:p>
            <a:r>
              <a:rPr lang="en-US" sz="3200" dirty="0" smtClean="0"/>
              <a:t>Merits</a:t>
            </a:r>
            <a:r>
              <a:rPr lang="en-US" sz="3200" dirty="0"/>
              <a:t>: </a:t>
            </a:r>
            <a:r>
              <a:rPr lang="en-US" sz="3200" dirty="0" smtClean="0"/>
              <a:t>-</a:t>
            </a:r>
            <a:endParaRPr lang="en-US" sz="3200" dirty="0" smtClean="0"/>
          </a:p>
          <a:p>
            <a:r>
              <a:rPr lang="en-US" sz="3200" dirty="0" smtClean="0"/>
              <a:t>Simple </a:t>
            </a:r>
            <a:r>
              <a:rPr lang="en-US" sz="3200" dirty="0"/>
              <a:t>implementation, suitable for small datasets.</a:t>
            </a:r>
            <a:endParaRPr lang="en-US" sz="3200" dirty="0"/>
          </a:p>
        </p:txBody>
      </p:sp>
      <p:sp>
        <p:nvSpPr>
          <p:cNvPr id="35" name="TextBox 34"/>
          <p:cNvSpPr txBox="1"/>
          <p:nvPr/>
        </p:nvSpPr>
        <p:spPr>
          <a:xfrm>
            <a:off x="6629400" y="2119091"/>
            <a:ext cx="4953000" cy="3046988"/>
          </a:xfrm>
          <a:prstGeom prst="rect">
            <a:avLst/>
          </a:prstGeom>
          <a:noFill/>
        </p:spPr>
        <p:txBody>
          <a:bodyPr wrap="square" rtlCol="0">
            <a:spAutoFit/>
          </a:bodyPr>
          <a:lstStyle/>
          <a:p>
            <a:r>
              <a:rPr lang="en-US" sz="3200" b="1" dirty="0"/>
              <a:t>Selection Sort</a:t>
            </a:r>
            <a:r>
              <a:rPr lang="en-US" sz="3200" b="1" dirty="0" smtClean="0"/>
              <a:t>:</a:t>
            </a:r>
            <a:endParaRPr lang="en-US" sz="3200" b="1" dirty="0" smtClean="0"/>
          </a:p>
          <a:p>
            <a:endParaRPr lang="en-US" sz="3200" dirty="0" smtClean="0"/>
          </a:p>
          <a:p>
            <a:r>
              <a:rPr lang="en-US" sz="3200" dirty="0" smtClean="0"/>
              <a:t>Merits</a:t>
            </a:r>
            <a:r>
              <a:rPr lang="en-US" sz="3200" dirty="0"/>
              <a:t>: </a:t>
            </a:r>
            <a:r>
              <a:rPr lang="en-US" sz="3200" dirty="0" smtClean="0"/>
              <a:t>-</a:t>
            </a:r>
            <a:endParaRPr lang="en-US" sz="3200" dirty="0" smtClean="0"/>
          </a:p>
          <a:p>
            <a:r>
              <a:rPr lang="en-US" sz="3200" dirty="0" smtClean="0"/>
              <a:t>Simple </a:t>
            </a:r>
            <a:r>
              <a:rPr lang="en-US" sz="3200" dirty="0"/>
              <a:t>implementation, requires minimal memory usage.</a:t>
            </a:r>
            <a:endParaRPr lang="en-US" sz="3200" dirty="0"/>
          </a:p>
        </p:txBody>
      </p:sp>
      <p:sp>
        <p:nvSpPr>
          <p:cNvPr id="36" name="TextBox 35"/>
          <p:cNvSpPr txBox="1"/>
          <p:nvPr/>
        </p:nvSpPr>
        <p:spPr>
          <a:xfrm>
            <a:off x="12379036" y="2119091"/>
            <a:ext cx="4953000" cy="3046988"/>
          </a:xfrm>
          <a:prstGeom prst="rect">
            <a:avLst/>
          </a:prstGeom>
          <a:noFill/>
        </p:spPr>
        <p:txBody>
          <a:bodyPr wrap="square" rtlCol="0">
            <a:spAutoFit/>
          </a:bodyPr>
          <a:lstStyle/>
          <a:p>
            <a:r>
              <a:rPr lang="en-US" sz="3200" b="1" dirty="0"/>
              <a:t>Merge Sort</a:t>
            </a:r>
            <a:r>
              <a:rPr lang="en-US" sz="3200" b="1" dirty="0" smtClean="0"/>
              <a:t>:</a:t>
            </a:r>
            <a:endParaRPr lang="en-US" sz="3200" b="1" dirty="0" smtClean="0"/>
          </a:p>
          <a:p>
            <a:endParaRPr lang="en-US" sz="3200" dirty="0" smtClean="0"/>
          </a:p>
          <a:p>
            <a:r>
              <a:rPr lang="en-US" sz="3200" dirty="0" smtClean="0"/>
              <a:t>Merits:-</a:t>
            </a:r>
            <a:endParaRPr lang="en-US" sz="3200" dirty="0" smtClean="0"/>
          </a:p>
          <a:p>
            <a:r>
              <a:rPr lang="en-US" sz="3200" dirty="0" smtClean="0"/>
              <a:t>Efficient </a:t>
            </a:r>
            <a:r>
              <a:rPr lang="en-US" sz="3200" dirty="0"/>
              <a:t>for large datasets, stable, O(n log n) time complexity.</a:t>
            </a:r>
            <a:endParaRPr lang="en-US" dirty="0"/>
          </a:p>
        </p:txBody>
      </p:sp>
      <p:sp>
        <p:nvSpPr>
          <p:cNvPr id="37" name="TextBox 36"/>
          <p:cNvSpPr txBox="1"/>
          <p:nvPr/>
        </p:nvSpPr>
        <p:spPr>
          <a:xfrm>
            <a:off x="495301" y="6641141"/>
            <a:ext cx="5257800" cy="3046988"/>
          </a:xfrm>
          <a:prstGeom prst="rect">
            <a:avLst/>
          </a:prstGeom>
          <a:noFill/>
        </p:spPr>
        <p:txBody>
          <a:bodyPr wrap="square" rtlCol="0">
            <a:spAutoFit/>
          </a:bodyPr>
          <a:lstStyle/>
          <a:p>
            <a:r>
              <a:rPr lang="en-US" sz="3200" b="1" dirty="0"/>
              <a:t>Quick Sort</a:t>
            </a:r>
            <a:r>
              <a:rPr lang="en-US" sz="3200" b="1" dirty="0" smtClean="0"/>
              <a:t>:</a:t>
            </a:r>
            <a:endParaRPr lang="en-US" sz="3200" b="1" dirty="0" smtClean="0"/>
          </a:p>
          <a:p>
            <a:endParaRPr lang="en-US" sz="3200" dirty="0" smtClean="0"/>
          </a:p>
          <a:p>
            <a:r>
              <a:rPr lang="en-US" sz="3200" dirty="0" smtClean="0"/>
              <a:t>Merits:-</a:t>
            </a:r>
            <a:endParaRPr lang="en-US" sz="3200" dirty="0" smtClean="0"/>
          </a:p>
          <a:p>
            <a:r>
              <a:rPr lang="en-US" sz="3200" dirty="0" smtClean="0"/>
              <a:t>Efficient </a:t>
            </a:r>
            <a:r>
              <a:rPr lang="en-US" sz="3200" dirty="0"/>
              <a:t>for large datasets, in-place sorting, average case O(n log n) time complexity.</a:t>
            </a:r>
            <a:endParaRPr lang="en-US" sz="3200" dirty="0"/>
          </a:p>
        </p:txBody>
      </p:sp>
      <p:sp>
        <p:nvSpPr>
          <p:cNvPr id="38" name="TextBox 37"/>
          <p:cNvSpPr txBox="1"/>
          <p:nvPr/>
        </p:nvSpPr>
        <p:spPr>
          <a:xfrm>
            <a:off x="6629401" y="6509120"/>
            <a:ext cx="4953000" cy="3046988"/>
          </a:xfrm>
          <a:prstGeom prst="rect">
            <a:avLst/>
          </a:prstGeom>
          <a:noFill/>
        </p:spPr>
        <p:txBody>
          <a:bodyPr wrap="square" rtlCol="0">
            <a:spAutoFit/>
          </a:bodyPr>
          <a:lstStyle/>
          <a:p>
            <a:r>
              <a:rPr lang="en-US" sz="3200" b="1" dirty="0"/>
              <a:t>Heap Sort</a:t>
            </a:r>
            <a:r>
              <a:rPr lang="en-US" sz="3200" b="1" dirty="0" smtClean="0"/>
              <a:t>:</a:t>
            </a:r>
            <a:endParaRPr lang="en-US" sz="3200" b="1" dirty="0" smtClean="0"/>
          </a:p>
          <a:p>
            <a:endParaRPr lang="en-US" sz="3200" dirty="0"/>
          </a:p>
          <a:p>
            <a:r>
              <a:rPr lang="en-US" sz="3200" dirty="0" smtClean="0"/>
              <a:t>Merits:-</a:t>
            </a:r>
            <a:endParaRPr lang="en-US" sz="3200" dirty="0" smtClean="0"/>
          </a:p>
          <a:p>
            <a:r>
              <a:rPr lang="en-US" sz="3200" dirty="0" smtClean="0"/>
              <a:t>Efficient </a:t>
            </a:r>
            <a:r>
              <a:rPr lang="en-US" sz="3200" dirty="0"/>
              <a:t>for large datasets, in-place sorting, worst-case O(n log n) time complexity</a:t>
            </a:r>
            <a:r>
              <a:rPr lang="en-US" dirty="0"/>
              <a:t>.</a:t>
            </a:r>
            <a:endParaRPr lang="en-US" dirty="0"/>
          </a:p>
        </p:txBody>
      </p:sp>
      <p:sp>
        <p:nvSpPr>
          <p:cNvPr id="39" name="TextBox 38"/>
          <p:cNvSpPr txBox="1"/>
          <p:nvPr/>
        </p:nvSpPr>
        <p:spPr>
          <a:xfrm>
            <a:off x="12407389" y="6538691"/>
            <a:ext cx="4953000" cy="3046988"/>
          </a:xfrm>
          <a:prstGeom prst="rect">
            <a:avLst/>
          </a:prstGeom>
          <a:noFill/>
        </p:spPr>
        <p:txBody>
          <a:bodyPr wrap="square" rtlCol="0">
            <a:spAutoFit/>
          </a:bodyPr>
          <a:lstStyle/>
          <a:p>
            <a:r>
              <a:rPr lang="en-US" sz="3200" b="1" dirty="0"/>
              <a:t>Insertion Sort</a:t>
            </a:r>
            <a:r>
              <a:rPr lang="en-US" sz="3200" b="1" dirty="0" smtClean="0"/>
              <a:t>:</a:t>
            </a:r>
            <a:endParaRPr lang="en-US" sz="3200" b="1" dirty="0" smtClean="0"/>
          </a:p>
          <a:p>
            <a:endParaRPr lang="en-US" sz="3200" dirty="0"/>
          </a:p>
          <a:p>
            <a:r>
              <a:rPr lang="en-US" sz="3200" dirty="0" smtClean="0"/>
              <a:t>Merits:-</a:t>
            </a:r>
            <a:endParaRPr lang="en-US" sz="3200" dirty="0" smtClean="0"/>
          </a:p>
          <a:p>
            <a:r>
              <a:rPr lang="en-US" sz="3200" dirty="0" smtClean="0"/>
              <a:t>Efficient </a:t>
            </a:r>
            <a:r>
              <a:rPr lang="en-US" sz="3200" dirty="0"/>
              <a:t>for small datasets or nearly sorted arrays, in-place sorting.</a:t>
            </a: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4" name="AutoShape 4"/>
          <p:cNvSpPr/>
          <p:nvPr/>
        </p:nvSpPr>
        <p:spPr>
          <a:xfrm>
            <a:off x="-1" y="659191"/>
            <a:ext cx="6416587" cy="19050"/>
          </a:xfrm>
          <a:prstGeom prst="line">
            <a:avLst/>
          </a:prstGeom>
          <a:ln w="114300" cap="flat">
            <a:solidFill>
              <a:srgbClr val="9FC3D0"/>
            </a:solidFill>
            <a:prstDash val="solid"/>
            <a:headEnd type="none" w="sm" len="sm"/>
            <a:tailEnd type="none" w="sm" len="sm"/>
          </a:ln>
        </p:spPr>
      </p:sp>
      <p:sp>
        <p:nvSpPr>
          <p:cNvPr id="5" name="Freeform 5"/>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AutoShape 6"/>
          <p:cNvSpPr/>
          <p:nvPr/>
        </p:nvSpPr>
        <p:spPr>
          <a:xfrm flipV="1">
            <a:off x="11887200" y="659191"/>
            <a:ext cx="6400800" cy="19050"/>
          </a:xfrm>
          <a:prstGeom prst="line">
            <a:avLst/>
          </a:prstGeom>
          <a:ln w="114300" cap="flat">
            <a:solidFill>
              <a:srgbClr val="9FC3D0"/>
            </a:solidFill>
            <a:prstDash val="solid"/>
            <a:headEnd type="none" w="sm" len="sm"/>
            <a:tailEnd type="none" w="sm" len="sm"/>
          </a:ln>
        </p:spPr>
      </p:sp>
      <p:sp>
        <p:nvSpPr>
          <p:cNvPr id="7" name="TextBox 7"/>
          <p:cNvSpPr txBox="1"/>
          <p:nvPr/>
        </p:nvSpPr>
        <p:spPr>
          <a:xfrm>
            <a:off x="2530943" y="-37233"/>
            <a:ext cx="13180039" cy="1392625"/>
          </a:xfrm>
          <a:prstGeom prst="rect">
            <a:avLst/>
          </a:prstGeom>
        </p:spPr>
        <p:txBody>
          <a:bodyPr lIns="0" tIns="0" rIns="0" bIns="0" rtlCol="0" anchor="t">
            <a:spAutoFit/>
          </a:bodyPr>
          <a:lstStyle/>
          <a:p>
            <a:pPr algn="ctr">
              <a:lnSpc>
                <a:spcPts val="11900"/>
              </a:lnSpc>
            </a:pPr>
            <a:r>
              <a:rPr lang="en-US" sz="8500" dirty="0" smtClean="0">
                <a:solidFill>
                  <a:srgbClr val="000000"/>
                </a:solidFill>
                <a:latin typeface="Alatsi Bold"/>
              </a:rPr>
              <a:t>Demerits</a:t>
            </a:r>
            <a:endParaRPr lang="en-US" sz="8500" dirty="0">
              <a:solidFill>
                <a:srgbClr val="000000"/>
              </a:solidFill>
              <a:latin typeface="Alatsi Bold"/>
            </a:endParaRPr>
          </a:p>
        </p:txBody>
      </p:sp>
      <p:sp>
        <p:nvSpPr>
          <p:cNvPr id="17" name="Freeform 5"/>
          <p:cNvSpPr/>
          <p:nvPr/>
        </p:nvSpPr>
        <p:spPr>
          <a:xfrm>
            <a:off x="381000" y="2019300"/>
            <a:ext cx="5486400" cy="3246571"/>
          </a:xfrm>
          <a:custGeom>
            <a:avLst/>
            <a:gdLst/>
            <a:ahLst/>
            <a:cxnLst/>
            <a:rect l="l" t="t" r="r" b="b"/>
            <a:pathLst>
              <a:path w="1939142" h="1164413">
                <a:moveTo>
                  <a:pt x="53627" y="0"/>
                </a:moveTo>
                <a:lnTo>
                  <a:pt x="1885515" y="0"/>
                </a:lnTo>
                <a:cubicBezTo>
                  <a:pt x="1915133" y="0"/>
                  <a:pt x="1939142" y="24010"/>
                  <a:pt x="1939142" y="53627"/>
                </a:cubicBezTo>
                <a:lnTo>
                  <a:pt x="1939142" y="1110786"/>
                </a:lnTo>
                <a:cubicBezTo>
                  <a:pt x="1939142" y="1140403"/>
                  <a:pt x="1915133" y="1164413"/>
                  <a:pt x="1885515" y="1164413"/>
                </a:cubicBezTo>
                <a:lnTo>
                  <a:pt x="53627" y="1164413"/>
                </a:lnTo>
                <a:cubicBezTo>
                  <a:pt x="39404" y="1164413"/>
                  <a:pt x="25764" y="1158763"/>
                  <a:pt x="15707" y="1148706"/>
                </a:cubicBezTo>
                <a:cubicBezTo>
                  <a:pt x="5650" y="1138649"/>
                  <a:pt x="0" y="1125009"/>
                  <a:pt x="0" y="1110786"/>
                </a:cubicBezTo>
                <a:lnTo>
                  <a:pt x="0" y="53627"/>
                </a:lnTo>
                <a:cubicBezTo>
                  <a:pt x="0" y="39404"/>
                  <a:pt x="5650" y="25764"/>
                  <a:pt x="15707" y="15707"/>
                </a:cubicBezTo>
                <a:cubicBezTo>
                  <a:pt x="25764" y="5650"/>
                  <a:pt x="39404" y="0"/>
                  <a:pt x="53627" y="0"/>
                </a:cubicBezTo>
                <a:close/>
              </a:path>
            </a:pathLst>
          </a:custGeom>
          <a:solidFill>
            <a:schemeClr val="accent6">
              <a:lumMod val="40000"/>
              <a:lumOff val="60000"/>
            </a:schemeClr>
          </a:solidFill>
        </p:spPr>
      </p:sp>
      <p:sp>
        <p:nvSpPr>
          <p:cNvPr id="18" name="Freeform 5"/>
          <p:cNvSpPr/>
          <p:nvPr/>
        </p:nvSpPr>
        <p:spPr>
          <a:xfrm>
            <a:off x="6400800" y="6428508"/>
            <a:ext cx="5486400" cy="3246571"/>
          </a:xfrm>
          <a:custGeom>
            <a:avLst/>
            <a:gdLst/>
            <a:ahLst/>
            <a:cxnLst/>
            <a:rect l="l" t="t" r="r" b="b"/>
            <a:pathLst>
              <a:path w="1939142" h="1164413">
                <a:moveTo>
                  <a:pt x="53627" y="0"/>
                </a:moveTo>
                <a:lnTo>
                  <a:pt x="1885515" y="0"/>
                </a:lnTo>
                <a:cubicBezTo>
                  <a:pt x="1915133" y="0"/>
                  <a:pt x="1939142" y="24010"/>
                  <a:pt x="1939142" y="53627"/>
                </a:cubicBezTo>
                <a:lnTo>
                  <a:pt x="1939142" y="1110786"/>
                </a:lnTo>
                <a:cubicBezTo>
                  <a:pt x="1939142" y="1140403"/>
                  <a:pt x="1915133" y="1164413"/>
                  <a:pt x="1885515" y="1164413"/>
                </a:cubicBezTo>
                <a:lnTo>
                  <a:pt x="53627" y="1164413"/>
                </a:lnTo>
                <a:cubicBezTo>
                  <a:pt x="39404" y="1164413"/>
                  <a:pt x="25764" y="1158763"/>
                  <a:pt x="15707" y="1148706"/>
                </a:cubicBezTo>
                <a:cubicBezTo>
                  <a:pt x="5650" y="1138649"/>
                  <a:pt x="0" y="1125009"/>
                  <a:pt x="0" y="1110786"/>
                </a:cubicBezTo>
                <a:lnTo>
                  <a:pt x="0" y="53627"/>
                </a:lnTo>
                <a:cubicBezTo>
                  <a:pt x="0" y="39404"/>
                  <a:pt x="5650" y="25764"/>
                  <a:pt x="15707" y="15707"/>
                </a:cubicBezTo>
                <a:cubicBezTo>
                  <a:pt x="25764" y="5650"/>
                  <a:pt x="39404" y="0"/>
                  <a:pt x="53627" y="0"/>
                </a:cubicBezTo>
                <a:close/>
              </a:path>
            </a:pathLst>
          </a:custGeom>
          <a:solidFill>
            <a:schemeClr val="accent6">
              <a:lumMod val="40000"/>
              <a:lumOff val="60000"/>
            </a:schemeClr>
          </a:solidFill>
        </p:spPr>
      </p:sp>
      <p:sp>
        <p:nvSpPr>
          <p:cNvPr id="19" name="Freeform 5"/>
          <p:cNvSpPr/>
          <p:nvPr/>
        </p:nvSpPr>
        <p:spPr>
          <a:xfrm>
            <a:off x="381000" y="6438900"/>
            <a:ext cx="5486400" cy="3246571"/>
          </a:xfrm>
          <a:custGeom>
            <a:avLst/>
            <a:gdLst/>
            <a:ahLst/>
            <a:cxnLst/>
            <a:rect l="l" t="t" r="r" b="b"/>
            <a:pathLst>
              <a:path w="1939142" h="1164413">
                <a:moveTo>
                  <a:pt x="53627" y="0"/>
                </a:moveTo>
                <a:lnTo>
                  <a:pt x="1885515" y="0"/>
                </a:lnTo>
                <a:cubicBezTo>
                  <a:pt x="1915133" y="0"/>
                  <a:pt x="1939142" y="24010"/>
                  <a:pt x="1939142" y="53627"/>
                </a:cubicBezTo>
                <a:lnTo>
                  <a:pt x="1939142" y="1110786"/>
                </a:lnTo>
                <a:cubicBezTo>
                  <a:pt x="1939142" y="1140403"/>
                  <a:pt x="1915133" y="1164413"/>
                  <a:pt x="1885515" y="1164413"/>
                </a:cubicBezTo>
                <a:lnTo>
                  <a:pt x="53627" y="1164413"/>
                </a:lnTo>
                <a:cubicBezTo>
                  <a:pt x="39404" y="1164413"/>
                  <a:pt x="25764" y="1158763"/>
                  <a:pt x="15707" y="1148706"/>
                </a:cubicBezTo>
                <a:cubicBezTo>
                  <a:pt x="5650" y="1138649"/>
                  <a:pt x="0" y="1125009"/>
                  <a:pt x="0" y="1110786"/>
                </a:cubicBezTo>
                <a:lnTo>
                  <a:pt x="0" y="53627"/>
                </a:lnTo>
                <a:cubicBezTo>
                  <a:pt x="0" y="39404"/>
                  <a:pt x="5650" y="25764"/>
                  <a:pt x="15707" y="15707"/>
                </a:cubicBezTo>
                <a:cubicBezTo>
                  <a:pt x="25764" y="5650"/>
                  <a:pt x="39404" y="0"/>
                  <a:pt x="53627" y="0"/>
                </a:cubicBezTo>
                <a:close/>
              </a:path>
            </a:pathLst>
          </a:custGeom>
        </p:spPr>
        <p:style>
          <a:lnRef idx="2">
            <a:schemeClr val="accent6"/>
          </a:lnRef>
          <a:fillRef idx="1">
            <a:schemeClr val="lt1"/>
          </a:fillRef>
          <a:effectRef idx="0">
            <a:schemeClr val="accent6"/>
          </a:effectRef>
          <a:fontRef idx="minor">
            <a:schemeClr val="dk1"/>
          </a:fontRef>
        </p:style>
      </p:sp>
      <p:sp>
        <p:nvSpPr>
          <p:cNvPr id="20" name="Freeform 5"/>
          <p:cNvSpPr/>
          <p:nvPr/>
        </p:nvSpPr>
        <p:spPr>
          <a:xfrm>
            <a:off x="12379036" y="2019298"/>
            <a:ext cx="5486400" cy="3246571"/>
          </a:xfrm>
          <a:custGeom>
            <a:avLst/>
            <a:gdLst/>
            <a:ahLst/>
            <a:cxnLst/>
            <a:rect l="l" t="t" r="r" b="b"/>
            <a:pathLst>
              <a:path w="1939142" h="1164413">
                <a:moveTo>
                  <a:pt x="53627" y="0"/>
                </a:moveTo>
                <a:lnTo>
                  <a:pt x="1885515" y="0"/>
                </a:lnTo>
                <a:cubicBezTo>
                  <a:pt x="1915133" y="0"/>
                  <a:pt x="1939142" y="24010"/>
                  <a:pt x="1939142" y="53627"/>
                </a:cubicBezTo>
                <a:lnTo>
                  <a:pt x="1939142" y="1110786"/>
                </a:lnTo>
                <a:cubicBezTo>
                  <a:pt x="1939142" y="1140403"/>
                  <a:pt x="1915133" y="1164413"/>
                  <a:pt x="1885515" y="1164413"/>
                </a:cubicBezTo>
                <a:lnTo>
                  <a:pt x="53627" y="1164413"/>
                </a:lnTo>
                <a:cubicBezTo>
                  <a:pt x="39404" y="1164413"/>
                  <a:pt x="25764" y="1158763"/>
                  <a:pt x="15707" y="1148706"/>
                </a:cubicBezTo>
                <a:cubicBezTo>
                  <a:pt x="5650" y="1138649"/>
                  <a:pt x="0" y="1125009"/>
                  <a:pt x="0" y="1110786"/>
                </a:cubicBezTo>
                <a:lnTo>
                  <a:pt x="0" y="53627"/>
                </a:lnTo>
                <a:cubicBezTo>
                  <a:pt x="0" y="39404"/>
                  <a:pt x="5650" y="25764"/>
                  <a:pt x="15707" y="15707"/>
                </a:cubicBezTo>
                <a:cubicBezTo>
                  <a:pt x="25764" y="5650"/>
                  <a:pt x="39404" y="0"/>
                  <a:pt x="53627" y="0"/>
                </a:cubicBezTo>
                <a:close/>
              </a:path>
            </a:pathLst>
          </a:custGeom>
          <a:solidFill>
            <a:schemeClr val="accent6">
              <a:lumMod val="40000"/>
              <a:lumOff val="60000"/>
            </a:schemeClr>
          </a:solidFill>
        </p:spPr>
      </p:sp>
      <p:sp>
        <p:nvSpPr>
          <p:cNvPr id="21" name="Freeform 5"/>
          <p:cNvSpPr/>
          <p:nvPr/>
        </p:nvSpPr>
        <p:spPr>
          <a:xfrm>
            <a:off x="6407727" y="2019299"/>
            <a:ext cx="5486400" cy="3246571"/>
          </a:xfrm>
          <a:custGeom>
            <a:avLst/>
            <a:gdLst/>
            <a:ahLst/>
            <a:cxnLst/>
            <a:rect l="l" t="t" r="r" b="b"/>
            <a:pathLst>
              <a:path w="1939142" h="1164413">
                <a:moveTo>
                  <a:pt x="53627" y="0"/>
                </a:moveTo>
                <a:lnTo>
                  <a:pt x="1885515" y="0"/>
                </a:lnTo>
                <a:cubicBezTo>
                  <a:pt x="1915133" y="0"/>
                  <a:pt x="1939142" y="24010"/>
                  <a:pt x="1939142" y="53627"/>
                </a:cubicBezTo>
                <a:lnTo>
                  <a:pt x="1939142" y="1110786"/>
                </a:lnTo>
                <a:cubicBezTo>
                  <a:pt x="1939142" y="1140403"/>
                  <a:pt x="1915133" y="1164413"/>
                  <a:pt x="1885515" y="1164413"/>
                </a:cubicBezTo>
                <a:lnTo>
                  <a:pt x="53627" y="1164413"/>
                </a:lnTo>
                <a:cubicBezTo>
                  <a:pt x="39404" y="1164413"/>
                  <a:pt x="25764" y="1158763"/>
                  <a:pt x="15707" y="1148706"/>
                </a:cubicBezTo>
                <a:cubicBezTo>
                  <a:pt x="5650" y="1138649"/>
                  <a:pt x="0" y="1125009"/>
                  <a:pt x="0" y="1110786"/>
                </a:cubicBezTo>
                <a:lnTo>
                  <a:pt x="0" y="53627"/>
                </a:lnTo>
                <a:cubicBezTo>
                  <a:pt x="0" y="39404"/>
                  <a:pt x="5650" y="25764"/>
                  <a:pt x="15707" y="15707"/>
                </a:cubicBezTo>
                <a:cubicBezTo>
                  <a:pt x="25764" y="5650"/>
                  <a:pt x="39404" y="0"/>
                  <a:pt x="53627" y="0"/>
                </a:cubicBezTo>
                <a:close/>
              </a:path>
            </a:pathLst>
          </a:custGeom>
        </p:spPr>
        <p:style>
          <a:lnRef idx="2">
            <a:schemeClr val="accent6"/>
          </a:lnRef>
          <a:fillRef idx="1">
            <a:schemeClr val="lt1"/>
          </a:fillRef>
          <a:effectRef idx="0">
            <a:schemeClr val="accent6"/>
          </a:effectRef>
          <a:fontRef idx="minor">
            <a:schemeClr val="dk1"/>
          </a:fontRef>
        </p:style>
      </p:sp>
      <p:sp>
        <p:nvSpPr>
          <p:cNvPr id="22" name="Freeform 5"/>
          <p:cNvSpPr/>
          <p:nvPr/>
        </p:nvSpPr>
        <p:spPr>
          <a:xfrm>
            <a:off x="12344400" y="6404263"/>
            <a:ext cx="5486400" cy="3246571"/>
          </a:xfrm>
          <a:custGeom>
            <a:avLst/>
            <a:gdLst/>
            <a:ahLst/>
            <a:cxnLst/>
            <a:rect l="l" t="t" r="r" b="b"/>
            <a:pathLst>
              <a:path w="1939142" h="1164413">
                <a:moveTo>
                  <a:pt x="53627" y="0"/>
                </a:moveTo>
                <a:lnTo>
                  <a:pt x="1885515" y="0"/>
                </a:lnTo>
                <a:cubicBezTo>
                  <a:pt x="1915133" y="0"/>
                  <a:pt x="1939142" y="24010"/>
                  <a:pt x="1939142" y="53627"/>
                </a:cubicBezTo>
                <a:lnTo>
                  <a:pt x="1939142" y="1110786"/>
                </a:lnTo>
                <a:cubicBezTo>
                  <a:pt x="1939142" y="1140403"/>
                  <a:pt x="1915133" y="1164413"/>
                  <a:pt x="1885515" y="1164413"/>
                </a:cubicBezTo>
                <a:lnTo>
                  <a:pt x="53627" y="1164413"/>
                </a:lnTo>
                <a:cubicBezTo>
                  <a:pt x="39404" y="1164413"/>
                  <a:pt x="25764" y="1158763"/>
                  <a:pt x="15707" y="1148706"/>
                </a:cubicBezTo>
                <a:cubicBezTo>
                  <a:pt x="5650" y="1138649"/>
                  <a:pt x="0" y="1125009"/>
                  <a:pt x="0" y="1110786"/>
                </a:cubicBezTo>
                <a:lnTo>
                  <a:pt x="0" y="53627"/>
                </a:lnTo>
                <a:cubicBezTo>
                  <a:pt x="0" y="39404"/>
                  <a:pt x="5650" y="25764"/>
                  <a:pt x="15707" y="15707"/>
                </a:cubicBezTo>
                <a:cubicBezTo>
                  <a:pt x="25764" y="5650"/>
                  <a:pt x="39404" y="0"/>
                  <a:pt x="53627" y="0"/>
                </a:cubicBezTo>
                <a:close/>
              </a:path>
            </a:pathLst>
          </a:custGeom>
        </p:spPr>
        <p:style>
          <a:lnRef idx="2">
            <a:schemeClr val="accent6"/>
          </a:lnRef>
          <a:fillRef idx="1">
            <a:schemeClr val="lt1"/>
          </a:fillRef>
          <a:effectRef idx="0">
            <a:schemeClr val="accent6"/>
          </a:effectRef>
          <a:fontRef idx="minor">
            <a:schemeClr val="dk1"/>
          </a:fontRef>
        </p:style>
      </p:sp>
      <p:sp>
        <p:nvSpPr>
          <p:cNvPr id="23" name="TextBox 22"/>
          <p:cNvSpPr txBox="1"/>
          <p:nvPr/>
        </p:nvSpPr>
        <p:spPr>
          <a:xfrm>
            <a:off x="495300" y="2119091"/>
            <a:ext cx="5257800" cy="2554545"/>
          </a:xfrm>
          <a:prstGeom prst="rect">
            <a:avLst/>
          </a:prstGeom>
          <a:noFill/>
        </p:spPr>
        <p:txBody>
          <a:bodyPr wrap="square" rtlCol="0">
            <a:spAutoFit/>
          </a:bodyPr>
          <a:lstStyle/>
          <a:p>
            <a:r>
              <a:rPr lang="en-US" sz="3200" b="1" dirty="0"/>
              <a:t>Bubble Sort</a:t>
            </a:r>
            <a:r>
              <a:rPr lang="en-US" sz="3200" b="1" dirty="0" smtClean="0"/>
              <a:t>:</a:t>
            </a:r>
            <a:endParaRPr lang="en-US" sz="3200" b="1" dirty="0" smtClean="0"/>
          </a:p>
          <a:p>
            <a:endParaRPr lang="en-US" sz="3200" dirty="0" smtClean="0"/>
          </a:p>
          <a:p>
            <a:r>
              <a:rPr lang="en-US" sz="3200" dirty="0"/>
              <a:t>Demerits: </a:t>
            </a:r>
            <a:r>
              <a:rPr lang="en-US" sz="3200" dirty="0" smtClean="0"/>
              <a:t>-</a:t>
            </a:r>
            <a:endParaRPr lang="en-US" sz="3200" dirty="0" smtClean="0"/>
          </a:p>
          <a:p>
            <a:r>
              <a:rPr lang="en-US" sz="3200" dirty="0" smtClean="0"/>
              <a:t>Inefficient </a:t>
            </a:r>
            <a:r>
              <a:rPr lang="en-US" sz="3200" dirty="0"/>
              <a:t>for large datasets, O(n^2) time </a:t>
            </a:r>
            <a:r>
              <a:rPr lang="en-US" sz="3200" dirty="0" smtClean="0"/>
              <a:t>complexity.</a:t>
            </a:r>
            <a:endParaRPr lang="en-US" sz="3200" dirty="0"/>
          </a:p>
        </p:txBody>
      </p:sp>
      <p:sp>
        <p:nvSpPr>
          <p:cNvPr id="24" name="TextBox 23"/>
          <p:cNvSpPr txBox="1"/>
          <p:nvPr/>
        </p:nvSpPr>
        <p:spPr>
          <a:xfrm>
            <a:off x="6629400" y="2119091"/>
            <a:ext cx="4953000" cy="3046988"/>
          </a:xfrm>
          <a:prstGeom prst="rect">
            <a:avLst/>
          </a:prstGeom>
          <a:noFill/>
        </p:spPr>
        <p:txBody>
          <a:bodyPr wrap="square" rtlCol="0">
            <a:spAutoFit/>
          </a:bodyPr>
          <a:lstStyle/>
          <a:p>
            <a:r>
              <a:rPr lang="en-US" sz="3200" b="1" dirty="0"/>
              <a:t>Selection Sort</a:t>
            </a:r>
            <a:r>
              <a:rPr lang="en-US" sz="3200" b="1" dirty="0" smtClean="0"/>
              <a:t>:</a:t>
            </a:r>
            <a:endParaRPr lang="en-US" sz="3200" b="1" dirty="0" smtClean="0"/>
          </a:p>
          <a:p>
            <a:endParaRPr lang="en-US" sz="3200" dirty="0" smtClean="0"/>
          </a:p>
          <a:p>
            <a:r>
              <a:rPr lang="en-US" sz="3200" dirty="0"/>
              <a:t>Demerits: </a:t>
            </a:r>
            <a:r>
              <a:rPr lang="en-US" sz="3200" dirty="0" smtClean="0"/>
              <a:t>-</a:t>
            </a:r>
            <a:endParaRPr lang="en-US" sz="3200" dirty="0" smtClean="0"/>
          </a:p>
          <a:p>
            <a:r>
              <a:rPr lang="en-US" sz="3200" dirty="0" smtClean="0"/>
              <a:t>Inefficient </a:t>
            </a:r>
            <a:r>
              <a:rPr lang="en-US" sz="3200" dirty="0"/>
              <a:t>for large datasets, also has O(n^2) time </a:t>
            </a:r>
            <a:r>
              <a:rPr lang="en-US" sz="3200" dirty="0" smtClean="0"/>
              <a:t>complexity.</a:t>
            </a:r>
            <a:endParaRPr lang="en-US" sz="3200" dirty="0"/>
          </a:p>
        </p:txBody>
      </p:sp>
      <p:sp>
        <p:nvSpPr>
          <p:cNvPr id="25" name="TextBox 24"/>
          <p:cNvSpPr txBox="1"/>
          <p:nvPr/>
        </p:nvSpPr>
        <p:spPr>
          <a:xfrm>
            <a:off x="12379036" y="2119091"/>
            <a:ext cx="4953000" cy="3046988"/>
          </a:xfrm>
          <a:prstGeom prst="rect">
            <a:avLst/>
          </a:prstGeom>
          <a:noFill/>
        </p:spPr>
        <p:txBody>
          <a:bodyPr wrap="square" rtlCol="0">
            <a:spAutoFit/>
          </a:bodyPr>
          <a:lstStyle/>
          <a:p>
            <a:r>
              <a:rPr lang="en-US" sz="3200" b="1" dirty="0"/>
              <a:t>Merge Sort</a:t>
            </a:r>
            <a:r>
              <a:rPr lang="en-US" sz="3200" b="1" dirty="0" smtClean="0"/>
              <a:t>:</a:t>
            </a:r>
            <a:endParaRPr lang="en-US" sz="3200" b="1" dirty="0" smtClean="0"/>
          </a:p>
          <a:p>
            <a:endParaRPr lang="en-US" sz="3200" dirty="0" smtClean="0"/>
          </a:p>
          <a:p>
            <a:r>
              <a:rPr lang="en-US" sz="3200" dirty="0"/>
              <a:t>Demerits: </a:t>
            </a:r>
            <a:r>
              <a:rPr lang="en-US" sz="3200" dirty="0" smtClean="0"/>
              <a:t>-</a:t>
            </a:r>
            <a:endParaRPr lang="en-US" sz="3200" dirty="0" smtClean="0"/>
          </a:p>
          <a:p>
            <a:r>
              <a:rPr lang="en-US" sz="3200" dirty="0" smtClean="0"/>
              <a:t>Requires </a:t>
            </a:r>
            <a:r>
              <a:rPr lang="en-US" sz="3200" dirty="0"/>
              <a:t>additional memory space for the merging process.</a:t>
            </a:r>
            <a:endParaRPr lang="en-US" dirty="0"/>
          </a:p>
        </p:txBody>
      </p:sp>
      <p:sp>
        <p:nvSpPr>
          <p:cNvPr id="26" name="TextBox 25"/>
          <p:cNvSpPr txBox="1"/>
          <p:nvPr/>
        </p:nvSpPr>
        <p:spPr>
          <a:xfrm>
            <a:off x="495301" y="6641141"/>
            <a:ext cx="5257800" cy="2554545"/>
          </a:xfrm>
          <a:prstGeom prst="rect">
            <a:avLst/>
          </a:prstGeom>
          <a:noFill/>
        </p:spPr>
        <p:txBody>
          <a:bodyPr wrap="square" rtlCol="0">
            <a:spAutoFit/>
          </a:bodyPr>
          <a:lstStyle/>
          <a:p>
            <a:r>
              <a:rPr lang="en-US" sz="3200" b="1" dirty="0"/>
              <a:t>Quick Sort</a:t>
            </a:r>
            <a:r>
              <a:rPr lang="en-US" sz="3200" b="1" dirty="0" smtClean="0"/>
              <a:t>:</a:t>
            </a:r>
            <a:endParaRPr lang="en-US" sz="3200" b="1" dirty="0" smtClean="0"/>
          </a:p>
          <a:p>
            <a:endParaRPr lang="en-US" sz="3200" dirty="0" smtClean="0"/>
          </a:p>
          <a:p>
            <a:r>
              <a:rPr lang="en-US" sz="3200" dirty="0"/>
              <a:t>Demerits</a:t>
            </a:r>
            <a:r>
              <a:rPr lang="en-US" sz="3200" dirty="0" smtClean="0"/>
              <a:t>:-</a:t>
            </a:r>
            <a:endParaRPr lang="en-US" sz="3200" dirty="0" smtClean="0"/>
          </a:p>
          <a:p>
            <a:r>
              <a:rPr lang="en-US" sz="3200" dirty="0" smtClean="0"/>
              <a:t>Worst-case </a:t>
            </a:r>
            <a:r>
              <a:rPr lang="en-US" sz="3200" dirty="0"/>
              <a:t>time complexity of O(n^2), not stable.</a:t>
            </a:r>
            <a:endParaRPr lang="en-US" sz="3200" dirty="0"/>
          </a:p>
        </p:txBody>
      </p:sp>
      <p:sp>
        <p:nvSpPr>
          <p:cNvPr id="27" name="TextBox 26"/>
          <p:cNvSpPr txBox="1"/>
          <p:nvPr/>
        </p:nvSpPr>
        <p:spPr>
          <a:xfrm>
            <a:off x="6629401" y="6509120"/>
            <a:ext cx="4953000" cy="3046988"/>
          </a:xfrm>
          <a:prstGeom prst="rect">
            <a:avLst/>
          </a:prstGeom>
          <a:noFill/>
        </p:spPr>
        <p:txBody>
          <a:bodyPr wrap="square" rtlCol="0">
            <a:spAutoFit/>
          </a:bodyPr>
          <a:lstStyle/>
          <a:p>
            <a:r>
              <a:rPr lang="en-US" sz="3200" b="1" dirty="0"/>
              <a:t>Heap Sort</a:t>
            </a:r>
            <a:r>
              <a:rPr lang="en-US" sz="3200" b="1" dirty="0" smtClean="0"/>
              <a:t>:</a:t>
            </a:r>
            <a:endParaRPr lang="en-US" sz="3200" b="1" dirty="0" smtClean="0"/>
          </a:p>
          <a:p>
            <a:endParaRPr lang="en-US" sz="3200" dirty="0"/>
          </a:p>
          <a:p>
            <a:r>
              <a:rPr lang="en-US" sz="3200" dirty="0"/>
              <a:t>Demerits</a:t>
            </a:r>
            <a:r>
              <a:rPr lang="en-US" sz="3200" dirty="0" smtClean="0"/>
              <a:t>:-</a:t>
            </a:r>
            <a:endParaRPr lang="en-US" sz="3200" dirty="0" smtClean="0"/>
          </a:p>
          <a:p>
            <a:r>
              <a:rPr lang="en-US" sz="3200" dirty="0" smtClean="0"/>
              <a:t>Not </a:t>
            </a:r>
            <a:r>
              <a:rPr lang="en-US" sz="3200" dirty="0"/>
              <a:t>stable, requires additional space for the heap.</a:t>
            </a:r>
            <a:endParaRPr lang="en-US" dirty="0"/>
          </a:p>
        </p:txBody>
      </p:sp>
      <p:sp>
        <p:nvSpPr>
          <p:cNvPr id="28" name="TextBox 27"/>
          <p:cNvSpPr txBox="1"/>
          <p:nvPr/>
        </p:nvSpPr>
        <p:spPr>
          <a:xfrm>
            <a:off x="12407389" y="6538691"/>
            <a:ext cx="4953000" cy="3046988"/>
          </a:xfrm>
          <a:prstGeom prst="rect">
            <a:avLst/>
          </a:prstGeom>
          <a:noFill/>
        </p:spPr>
        <p:txBody>
          <a:bodyPr wrap="square" rtlCol="0">
            <a:spAutoFit/>
          </a:bodyPr>
          <a:lstStyle/>
          <a:p>
            <a:r>
              <a:rPr lang="en-US" sz="3200" b="1" dirty="0"/>
              <a:t>Insertion Sort</a:t>
            </a:r>
            <a:r>
              <a:rPr lang="en-US" sz="3200" b="1" dirty="0" smtClean="0"/>
              <a:t>:</a:t>
            </a:r>
            <a:endParaRPr lang="en-US" sz="3200" b="1" dirty="0" smtClean="0"/>
          </a:p>
          <a:p>
            <a:endParaRPr lang="en-US" sz="3200" dirty="0"/>
          </a:p>
          <a:p>
            <a:r>
              <a:rPr lang="en-US" sz="3200" dirty="0"/>
              <a:t>Demerits</a:t>
            </a:r>
            <a:r>
              <a:rPr lang="en-US" sz="3200" dirty="0" smtClean="0"/>
              <a:t>:-</a:t>
            </a:r>
            <a:endParaRPr lang="en-US" sz="3200" dirty="0" smtClean="0"/>
          </a:p>
          <a:p>
            <a:r>
              <a:rPr lang="en-US" sz="3200" dirty="0" smtClean="0"/>
              <a:t> </a:t>
            </a:r>
            <a:r>
              <a:rPr lang="en-US" sz="3200" dirty="0"/>
              <a:t>Inefficient for large datasets, O(n^2) time complexity on average.</a:t>
            </a: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2553979" y="103745"/>
            <a:ext cx="13180039" cy="1525905"/>
          </a:xfrm>
          <a:prstGeom prst="rect">
            <a:avLst/>
          </a:prstGeom>
        </p:spPr>
        <p:txBody>
          <a:bodyPr lIns="0" tIns="0" rIns="0" bIns="0" rtlCol="0" anchor="t">
            <a:spAutoFit/>
          </a:bodyPr>
          <a:lstStyle/>
          <a:p>
            <a:pPr algn="ctr">
              <a:lnSpc>
                <a:spcPts val="11900"/>
              </a:lnSpc>
            </a:pPr>
            <a:r>
              <a:rPr lang="en-IN" altLang="en-US" sz="8500" dirty="0">
                <a:solidFill>
                  <a:srgbClr val="000000"/>
                </a:solidFill>
                <a:latin typeface="Alatsi Bold"/>
              </a:rPr>
              <a:t>Applications</a:t>
            </a:r>
            <a:endParaRPr lang="en-IN" altLang="en-US" sz="8500" dirty="0">
              <a:solidFill>
                <a:srgbClr val="000000"/>
              </a:solidFill>
              <a:latin typeface="Alatsi Bold"/>
            </a:endParaRPr>
          </a:p>
        </p:txBody>
      </p:sp>
      <p:sp>
        <p:nvSpPr>
          <p:cNvPr id="16" name="AutoShape 16"/>
          <p:cNvSpPr/>
          <p:nvPr/>
        </p:nvSpPr>
        <p:spPr>
          <a:xfrm>
            <a:off x="304800" y="1629804"/>
            <a:ext cx="7105264" cy="19050"/>
          </a:xfrm>
          <a:prstGeom prst="line">
            <a:avLst/>
          </a:prstGeom>
          <a:ln w="114300" cap="flat">
            <a:solidFill>
              <a:srgbClr val="9FC3D0"/>
            </a:solidFill>
            <a:prstDash val="solid"/>
            <a:headEnd type="none" w="sm" len="sm"/>
            <a:tailEnd type="none" w="sm" len="sm"/>
          </a:ln>
        </p:spPr>
      </p:sp>
      <p:sp>
        <p:nvSpPr>
          <p:cNvPr id="17" name="AutoShape 17"/>
          <p:cNvSpPr/>
          <p:nvPr/>
        </p:nvSpPr>
        <p:spPr>
          <a:xfrm>
            <a:off x="10820400" y="1648854"/>
            <a:ext cx="7105264" cy="19050"/>
          </a:xfrm>
          <a:prstGeom prst="line">
            <a:avLst/>
          </a:prstGeom>
          <a:ln w="114300" cap="flat">
            <a:solidFill>
              <a:srgbClr val="9FC3D0"/>
            </a:solidFill>
            <a:prstDash val="solid"/>
            <a:headEnd type="none" w="sm" len="sm"/>
            <a:tailEnd type="none" w="sm" len="sm"/>
          </a:ln>
        </p:spPr>
      </p:sp>
      <p:sp>
        <p:nvSpPr>
          <p:cNvPr id="4" name="Text Box 3"/>
          <p:cNvSpPr txBox="1"/>
          <p:nvPr/>
        </p:nvSpPr>
        <p:spPr>
          <a:xfrm>
            <a:off x="860425" y="2476500"/>
            <a:ext cx="17123410" cy="6554470"/>
          </a:xfrm>
          <a:prstGeom prst="rect">
            <a:avLst/>
          </a:prstGeom>
          <a:noFill/>
        </p:spPr>
        <p:txBody>
          <a:bodyPr wrap="square" rtlCol="0">
            <a:spAutoFit/>
          </a:bodyPr>
          <a:lstStyle/>
          <a:p>
            <a:pPr marL="1143000" indent="-1143000">
              <a:lnSpc>
                <a:spcPct val="120000"/>
              </a:lnSpc>
              <a:buAutoNum type="arabicPeriod"/>
            </a:pPr>
            <a:r>
              <a:rPr lang="en-IN" altLang="en-US" sz="6000"/>
              <a:t>Data Processing and Analysis</a:t>
            </a:r>
            <a:endParaRPr lang="en-IN" altLang="en-US" sz="6000"/>
          </a:p>
          <a:p>
            <a:pPr marL="1143000" indent="-1143000">
              <a:lnSpc>
                <a:spcPct val="120000"/>
              </a:lnSpc>
              <a:buAutoNum type="arabicPeriod"/>
            </a:pPr>
            <a:r>
              <a:rPr lang="en-IN" altLang="en-US" sz="6000"/>
              <a:t>Algoritham Design</a:t>
            </a:r>
            <a:endParaRPr lang="en-IN" altLang="en-US" sz="6000"/>
          </a:p>
          <a:p>
            <a:pPr marL="1143000" indent="-1143000">
              <a:lnSpc>
                <a:spcPct val="120000"/>
              </a:lnSpc>
              <a:buAutoNum type="arabicPeriod"/>
            </a:pPr>
            <a:r>
              <a:rPr lang="en-IN" altLang="en-US" sz="6000"/>
              <a:t>Text Processing and Natural Language Processing</a:t>
            </a:r>
            <a:endParaRPr lang="en-IN" altLang="en-US" sz="6000"/>
          </a:p>
          <a:p>
            <a:pPr marL="1143000" indent="-1143000">
              <a:lnSpc>
                <a:spcPct val="120000"/>
              </a:lnSpc>
              <a:buAutoNum type="arabicPeriod"/>
            </a:pPr>
            <a:r>
              <a:rPr lang="en-IN" altLang="en-US" sz="6000"/>
              <a:t>Financial Services</a:t>
            </a:r>
            <a:endParaRPr lang="en-IN" altLang="en-US" sz="6000"/>
          </a:p>
          <a:p>
            <a:pPr marL="1143000" indent="-1143000">
              <a:lnSpc>
                <a:spcPct val="120000"/>
              </a:lnSpc>
              <a:buAutoNum type="arabicPeriod"/>
            </a:pPr>
            <a:r>
              <a:rPr lang="en-IN" altLang="en-US" sz="6000"/>
              <a:t>Genetic Sequencing and Bioinformatics</a:t>
            </a:r>
            <a:endParaRPr lang="en-IN" altLang="en-US" sz="6000"/>
          </a:p>
          <a:p>
            <a:pPr marL="1143000" indent="-1143000"/>
            <a:endParaRPr lang="en-IN" altLang="en-US" sz="6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4554977" y="3748035"/>
            <a:ext cx="11627497" cy="2514704"/>
          </a:xfrm>
          <a:prstGeom prst="rect">
            <a:avLst/>
          </a:prstGeom>
        </p:spPr>
        <p:txBody>
          <a:bodyPr lIns="0" tIns="0" rIns="0" bIns="0" rtlCol="0" anchor="t">
            <a:spAutoFit/>
          </a:bodyPr>
          <a:lstStyle/>
          <a:p>
            <a:pPr algn="ctr">
              <a:lnSpc>
                <a:spcPts val="20575"/>
              </a:lnSpc>
            </a:pPr>
            <a:r>
              <a:rPr lang="en-US" sz="14695">
                <a:solidFill>
                  <a:srgbClr val="000000"/>
                </a:solidFill>
                <a:latin typeface="Alatsi Bold"/>
              </a:rPr>
              <a:t>THANK YOU</a:t>
            </a:r>
            <a:endParaRPr lang="en-US" sz="14695">
              <a:solidFill>
                <a:srgbClr val="000000"/>
              </a:solidFill>
              <a:latin typeface="Alatsi Bold"/>
            </a:endParaRPr>
          </a:p>
        </p:txBody>
      </p:sp>
      <p:grpSp>
        <p:nvGrpSpPr>
          <p:cNvPr id="5" name="Group 5"/>
          <p:cNvGrpSpPr/>
          <p:nvPr/>
        </p:nvGrpSpPr>
        <p:grpSpPr>
          <a:xfrm>
            <a:off x="-31071" y="0"/>
            <a:ext cx="4239083" cy="10287000"/>
            <a:chOff x="0" y="0"/>
            <a:chExt cx="5652111" cy="13716000"/>
          </a:xfrm>
        </p:grpSpPr>
        <p:grpSp>
          <p:nvGrpSpPr>
            <p:cNvPr id="6" name="Group 6"/>
            <p:cNvGrpSpPr/>
            <p:nvPr/>
          </p:nvGrpSpPr>
          <p:grpSpPr>
            <a:xfrm>
              <a:off x="2826056" y="0"/>
              <a:ext cx="2826056" cy="13716000"/>
              <a:chOff x="0" y="0"/>
              <a:chExt cx="558233" cy="2709333"/>
            </a:xfrm>
          </p:grpSpPr>
          <p:sp>
            <p:nvSpPr>
              <p:cNvPr id="7" name="Freeform 7"/>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8" name="TextBox 8"/>
              <p:cNvSpPr txBox="1"/>
              <p:nvPr/>
            </p:nvSpPr>
            <p:spPr>
              <a:xfrm>
                <a:off x="0" y="-47625"/>
                <a:ext cx="558233" cy="2756958"/>
              </a:xfrm>
              <a:prstGeom prst="rect">
                <a:avLst/>
              </a:prstGeom>
            </p:spPr>
            <p:txBody>
              <a:bodyPr lIns="50800" tIns="50800" rIns="50800" bIns="50800" rtlCol="0" anchor="ctr"/>
              <a:lstStyle/>
              <a:p>
                <a:pPr algn="ctr">
                  <a:lnSpc>
                    <a:spcPts val="2660"/>
                  </a:lnSpc>
                </a:pPr>
              </a:p>
            </p:txBody>
          </p:sp>
        </p:grpSp>
        <p:grpSp>
          <p:nvGrpSpPr>
            <p:cNvPr id="9" name="Group 9"/>
            <p:cNvGrpSpPr/>
            <p:nvPr/>
          </p:nvGrpSpPr>
          <p:grpSpPr>
            <a:xfrm>
              <a:off x="1413028" y="0"/>
              <a:ext cx="2826056" cy="13716000"/>
              <a:chOff x="0" y="0"/>
              <a:chExt cx="558233" cy="2709333"/>
            </a:xfrm>
          </p:grpSpPr>
          <p:sp>
            <p:nvSpPr>
              <p:cNvPr id="10" name="Freeform 10"/>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11" name="TextBox 11"/>
              <p:cNvSpPr txBox="1"/>
              <p:nvPr/>
            </p:nvSpPr>
            <p:spPr>
              <a:xfrm>
                <a:off x="0" y="-47625"/>
                <a:ext cx="558233" cy="2756958"/>
              </a:xfrm>
              <a:prstGeom prst="rect">
                <a:avLst/>
              </a:prstGeom>
            </p:spPr>
            <p:txBody>
              <a:bodyPr lIns="50800" tIns="50800" rIns="50800" bIns="50800" rtlCol="0" anchor="ctr"/>
              <a:lstStyle/>
              <a:p>
                <a:pPr algn="ctr">
                  <a:lnSpc>
                    <a:spcPts val="2660"/>
                  </a:lnSpc>
                </a:pPr>
              </a:p>
            </p:txBody>
          </p:sp>
        </p:grpSp>
        <p:grpSp>
          <p:nvGrpSpPr>
            <p:cNvPr id="12" name="Group 12"/>
            <p:cNvGrpSpPr/>
            <p:nvPr/>
          </p:nvGrpSpPr>
          <p:grpSpPr>
            <a:xfrm>
              <a:off x="0" y="0"/>
              <a:ext cx="2826056" cy="13716000"/>
              <a:chOff x="0" y="0"/>
              <a:chExt cx="558233" cy="2709333"/>
            </a:xfrm>
          </p:grpSpPr>
          <p:sp>
            <p:nvSpPr>
              <p:cNvPr id="13" name="Freeform 13"/>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4" name="TextBox 14"/>
              <p:cNvSpPr txBox="1"/>
              <p:nvPr/>
            </p:nvSpPr>
            <p:spPr>
              <a:xfrm>
                <a:off x="0" y="-47625"/>
                <a:ext cx="558233" cy="2756958"/>
              </a:xfrm>
              <a:prstGeom prst="rect">
                <a:avLst/>
              </a:prstGeom>
            </p:spPr>
            <p:txBody>
              <a:bodyPr lIns="50800" tIns="50800" rIns="50800" bIns="50800" rtlCol="0" anchor="ctr"/>
              <a:lstStyle/>
              <a:p>
                <a:pPr algn="ctr">
                  <a:lnSpc>
                    <a:spcPts val="2660"/>
                  </a:lnSpc>
                </a:pPr>
              </a:p>
            </p:txBody>
          </p:sp>
        </p:grpSp>
      </p:grpSp>
      <p:sp>
        <p:nvSpPr>
          <p:cNvPr id="15" name="Freeform 15"/>
          <p:cNvSpPr/>
          <p:nvPr/>
        </p:nvSpPr>
        <p:spPr>
          <a:xfrm>
            <a:off x="12412831" y="8026211"/>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6" name="Freeform 16"/>
          <p:cNvSpPr/>
          <p:nvPr/>
        </p:nvSpPr>
        <p:spPr>
          <a:xfrm>
            <a:off x="11413653" y="-573693"/>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2618</Words>
  <Application>WPS Presentation</Application>
  <PresentationFormat>Custom</PresentationFormat>
  <Paragraphs>147</Paragraphs>
  <Slides>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vt:i4>
      </vt:variant>
    </vt:vector>
  </HeadingPairs>
  <TitlesOfParts>
    <vt:vector size="18" baseType="lpstr">
      <vt:lpstr>Arial</vt:lpstr>
      <vt:lpstr>SimSun</vt:lpstr>
      <vt:lpstr>Wingdings</vt:lpstr>
      <vt:lpstr>Alatsi Bold</vt:lpstr>
      <vt:lpstr>Shruti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Company Profile Business Presentation in Orange Grey White Geometric Style</dc:title>
  <dc:creator>HP</dc:creator>
  <cp:lastModifiedBy>zuber Solanki</cp:lastModifiedBy>
  <cp:revision>22</cp:revision>
  <dcterms:created xsi:type="dcterms:W3CDTF">2006-08-16T00:00:00Z</dcterms:created>
  <dcterms:modified xsi:type="dcterms:W3CDTF">2025-03-21T05:32:51Z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7F2064A08ACD45C18626372E22B72B94_13</vt:lpwstr>
  </property>
  <property fmtid="{D5CDD505-2E9C-101B-9397-08002B2CF9AE}" pid="3" name="KSOProductBuildVer">
    <vt:lpwstr>1033-12.2.0.20326</vt:lpwstr>
  </property>
</Properties>
</file>